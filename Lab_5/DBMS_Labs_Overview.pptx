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72cc760-4eb0-9dfa-b42a-892013e4b2df}">
          <p14:sldIdLst>
            <p14:sldId id="256"/>
            <p14:sldId id="257"/>
          </p14:sldIdLst>
        </p14:section>
        <p14:section name="Labs" id="{c673744d-efb2-d7f0-7fbe-c7379ea6038a}">
          <p14:sldIdLst>
            <p14:sldId id="258"/>
            <p14:sldId id="259"/>
            <p14:sldId id="260"/>
            <p14:sldId id="261"/>
            <p14:sldId id="262"/>
          </p14:sldIdLst>
        </p14:section>
        <p14:section name="Close" id="{3221ae80-c07a-be7e-6151-23922e2ba6ff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+mn-lt"/>
              </a:rPr>
              <a:t>Students by specialty (Student table, 8 rows)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технолог</c:v>
                  </c:pt>
                  <c:pt idx="1">
                    <c:v>бухгалтер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the floor for questions. Rehearsed timing target: roughly 1.5-2 minutes per slide for an 8-slide deck means about 12-16 minutes total, leaving time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167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WORK No. 5 — CREATION OF PRESENTATIONS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John   |   Group SISCCO-2502NS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1091672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Labs Overview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2651760" y="1554480"/>
            <a:ext cx="68580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5760720"/>
            <a:ext cx="6858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Labs Overview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Labs Overview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188720" y="1463040"/>
            <a:ext cx="981151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Labs Overview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1672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Labs Overview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systems, MS-DOS, HTML, and relational databases — four labs, one course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1091672" cy="47548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— Number Systems: converting and verifying one variant across four bases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— MS-DOS: building a multi-level directory structure from the command line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— HTML: font/paragraph formatting, images, bookmarks and hyperlinks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— Relational Databases: tables, a one-to-many relationship, and queries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 — Number Systems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1091672" cy="47548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number between decimal, binary, octal and hexadecimal by division/multiplication-by-base, and by grouping binary digits (3 bits -&gt; octal, 4 bits -&gt; hex)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variant-6 conversions solved by hand and cross-checked with a short Python script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589520" y="164592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EF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589520" y="1874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654.27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24871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(variant 6)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1010001110.0100010100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520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1216.2121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023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28E.451E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 — MS-DOS Files &amp; Directories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C:\STUDENT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D1 (d1.txt)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D2 (d2.txt)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+-- D3 / D4 / D5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D6 (d6.txt)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 D7 (d7.txt)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+-- D8 (d8.txt)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55448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and D6 are independent branches of STUDENT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D6 -&gt; D7 -&gt; D8 is a chain of nested directories, not siblings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MD / CD / COPY CON, verified with DIR /S /P</a:t>
            </a:r>
            <a:endParaRPr lang="en-US" sz="15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1463040"/>
            <a:ext cx="11091672" cy="47548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 — HTML</a:t>
            </a:r>
            <a:endParaRPr lang="en-US" sz="3000" dirty="0"/>
          </a:p>
        </p:txBody>
      </p:sp>
      <p:pic>
        <p:nvPicPr>
          <p:cNvPr id="3" name="Image 0" descr="/tmp/claude-0/-home-user-dbms-labs/5e5b5747-7510-572f-9b72-2af77eef35d3/scratchpad/lab_reports/figs/lab3_1_Doe.pn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tretch>
            <a:fillRect/>
          </a:stretch>
        </p:blipFill>
        <p:spPr>
          <a:xfrm>
            <a:off x="2651760" y="1554480"/>
            <a:ext cx="6858000" cy="381304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5760720"/>
            <a:ext cx="68580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1_Doe.htm rendered in the browser — headings and per-letter font formatting.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 — Student Table (employees.db)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329184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2194560"/>
                <a:gridCol w="3474720"/>
                <a:gridCol w="1828800"/>
              </a:tblGrid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Иванов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Сергей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г. Новороссийск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технолог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Петров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Сергей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г. Москва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технолог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Гаврелеева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Ольга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г. Москва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бухгалтер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Мухина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Олеся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г. Москва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технолог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Апареева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Анна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г. Люберцы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технолог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Сорина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Ольга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г. Москва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бухгалтер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Table. A subset of the Student table used by the Practical-work-3 queries (full 8 rows in employees.db).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 — Students by Specialty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>
            <p:ph idx="101" type="body" hasCustomPrompt="1"/>
          </p:nvPr>
        </p:nvGraphicFramePr>
        <p:xfrm>
          <a:off x="1188720" y="1463040"/>
          <a:ext cx="9811512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 5 of 8 students in the Student table are trained as технолог, 3 as бухгалтер.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1091672" cy="47548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labs, one consistent workflow: solve, build, verify, document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shown here was independently verified — Python for Lab 1, DIR /S for Lab 2, a browser for Lab 3, sqlite3 for Lab 4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write-ups, code and data: Lab_1 .. Lab_4 in this repository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Executive">
  <a:themeElements>
    <a:clrScheme name="Midnight Executive">
      <a:dk1>
        <a:srgbClr val="1E2761"/>
      </a:dk1>
      <a:lt1>
        <a:srgbClr val="FFFFFF"/>
      </a:lt1>
      <a:dk2>
        <a:srgbClr val="14194A"/>
      </a:dk2>
      <a:lt2>
        <a:srgbClr val="CADCFC"/>
      </a:lt2>
      <a:accent1>
        <a:srgbClr val="CADCFC"/>
      </a:accent1>
      <a:accent2>
        <a:srgbClr val="7FA1E3"/>
      </a:accent2>
      <a:accent3>
        <a:srgbClr val="EFF3FC"/>
      </a:accent3>
      <a:accent4>
        <a:srgbClr val="9BB8EC"/>
      </a:accent4>
      <a:accent5>
        <a:srgbClr val="0F1740"/>
      </a:accent5>
      <a:accent6>
        <a:srgbClr val="4C6FFF"/>
      </a:accent6>
      <a:hlink>
        <a:srgbClr val="CADCFC"/>
      </a:hlink>
      <a:folHlink>
        <a:srgbClr val="9BB8EC"/>
      </a:folHlink>
    </a:clrScheme>
    <a:fontScheme name="Midnight Execut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2026-10-09T08:56:13Z</dcterms:created>
  <dcterms:modified xsi:type="dcterms:W3CDTF">2026-10-09T08:56:13Z</dcterms:modified>
</cp:coreProperties>
</file>