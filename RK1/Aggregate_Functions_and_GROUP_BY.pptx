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94e34ae-3644-8ce4-5b9f-c4309712f3ea}">
          <p14:sldIdLst>
            <p14:sldId id="256"/>
            <p14:sldId id="257"/>
          </p14:sldIdLst>
        </p14:section>
        <p14:section name="Aggregate functions" id="{b4805384-2c12-0f5c-6f01-5c38d7289719}">
          <p14:sldIdLst>
            <p14:sldId id="258"/>
            <p14:sldId id="259"/>
            <p14:sldId id="260"/>
            <p14:sldId id="261"/>
          </p14:sldIdLst>
        </p14:section>
        <p14:section name="GROUP BY" id="{d362e73c-1837-83d8-b4e1-416b12a05081}">
          <p14:sldIdLst>
            <p14:sldId id="262"/>
            <p14:sldId id="263"/>
            <p14:sldId id="264"/>
            <p14:sldId id="265"/>
          </p14:sldIdLst>
        </p14:section>
        <p14:section name="Filtering groups" id="{98e89dcf-af6a-b6ed-60f1-387a3c92d050}">
          <p14:sldIdLst>
            <p14:sldId id="266"/>
            <p14:sldId id="267"/>
            <p14:sldId id="268"/>
          </p14:sldIdLst>
        </p14:section>
        <p14:section name="Quiz" id="{06fa523b-2200-2be8-b095-b21f4a6291b8}">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32: aggregate functions and GROUP BY. Every example in this talk runs on the University database we built in the labs, and every result shown was produced by PostgreSQL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Aggregation collapses many rows into one value. On the left are students' grades from the enrollments table; AVG turns the ten graded rows into the single value 79.3. GROUP BY, which comes next, repeats this per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SUM, AVG, MIN and MAX are the aggregates defined by the SQL standard and supported by every relational DBMS. The values shown are computed on the enrollments table of our University database: 11 rows, a total of 793 grade points, an average of 79.3, lowest 48 and highest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examples use this data: eleven enrollments of seven students in four courses. One grade is NULL because Garcia's Information Systems Analysis course has not been graded yet — watch how each aggregate treats that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GROUP BY, the aggregates treat the whole table as a single group, so the query always returns exactly one row. Note the difference between COUNT(*) and COUNT(grade): 11 versus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counts rows, COUNT(column) counts non-NULL values, and COUNT(DISTINCT column) counts different values. All other aggregates ignore NULLs, which is why AVG gives 79.3 and not 72.1. On an empty input COUNT returns 0 while SUM and AVG return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partitions the rows by the value of the grouping column — here the course. Each group collapses into one output row, and the aggregate is evaluated within that group only. The NULL grade of ISYS2201 stays in its group but is ignored by AVG.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grouping written in SQL. Aggregates work together with JOIN: the join runs first and the grouping is applied to the joined rows. ORDER BY can sort by the aggregate alias.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GROUP BY error. Each group produces one row, so a column that has several values inside a group cannot be shown directly. Either add it to GROUP BY, which makes smaller groups, or wrap it in an aggregate such as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can list several columns. Each distinct combination becomes one group. Here we count students per study group and scholarship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and HAVING both filter, but at different moments. WHERE works on single rows before grouping, so aggregates do not exist yet — PostgreSQL rejects WHERE AVG(grade) &gt; 80 with the error shown. HAVING works on finished groups, after the aggregates have been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realistic query uses both: WHERE narrows the rows to one semester, GROUP BY forms course groups, HAVING keeps only the strong courses. The two small tables show the intermediate and the final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written order of a query is SELECT first, but the DBMS logically evaluates it in this order. This single picture explains the rules of the whole topic: why WHERE cannot use aggregates, why HAVING can, and why SELECT may only use grouped columns or aggregates.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(do not show to the audience):
Q1: B — COUNT(*) counts rows; COUNT(grade) skips the NULL (11 vs 10).
Q2: False — NULLs are skipped: 79.3, not 72.1.
Q3: C — HAVING.
Q4: student_id is neither in GROUP BY nor inside an aggregate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(do not show to the audience):
Q5: False — aggregates are not allowed in WHERE; use HAVING.
Q6: C — 4 different courses.
Q7: FROM, WHERE, GROUP BY, HAVING, SELECT.
Q8: B — SUM returns NULL; COUNT(*) returns 0.
Close with: thank you —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3B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64592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3" name="Text 0"/>
          <p:cNvSpPr/>
          <p:nvPr>
            <p:ph idx="101" type="body" hasCustomPrompt="1"/>
          </p:nvPr>
        </p:nvSpPr>
        <p:spPr>
          <a:xfrm>
            <a:off x="548640" y="3794760"/>
            <a:ext cx="7863840" cy="548640"/>
          </a:xfrm>
          <a:prstGeom prst="rect">
            <a:avLst/>
          </a:prstGeom>
          <a:noFill/>
          <a:ln/>
        </p:spPr>
        <p:txBody>
          <a:bodyPr wrap="square" rtlCol="0"/>
          <a:lstStyle>
            <a:lvl1pPr indent="0" marL="0">
              <a:buNone/>
              <a:defRPr lang="en-US" sz="2200" dirty="0">
                <a:solidFill>
                  <a:srgbClr val="BFD7E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indent="0" marL="0">
              <a:buNone/>
              <a:defRPr lang="en-US" sz="3200" b="1" dirty="0">
                <a:solidFill>
                  <a:srgbClr val="0E3B5C"/>
                </a:solidFill>
              </a:defRPr>
            </a:lvl1pPr>
          </a:lstStyle>
          <a:p>
            <a:pPr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796A3"/>
                </a:solidFill>
              </a:rPr>
              <a:t>Topic 32 · Aggregate Functions and GROUP BY</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645920"/>
          </a:xfrm>
          <a:prstGeom prst="rect">
            <a:avLst/>
          </a:prstGeom>
          <a:noFill/>
          <a:ln/>
        </p:spPr>
        <p:txBody>
          <a:bodyPr wrap="square" lIns="0" tIns="0" rIns="0" bIns="0" rtlCol="0" anchor="b"/>
          <a:lstStyle/>
          <a:p>
            <a:pPr indent="0" marL="0">
              <a:buNone/>
            </a:pPr>
            <a:r>
              <a:rPr lang="en-US" sz="4400" b="1" dirty="0">
                <a:solidFill>
                  <a:srgbClr val="FFFFFF"/>
                </a:solidFill>
              </a:rPr>
              <a:t>Aggregate Functions and GROUP BY</a:t>
            </a:r>
            <a:endParaRPr lang="en-US" sz="4400" dirty="0"/>
          </a:p>
        </p:txBody>
      </p:sp>
      <p:sp>
        <p:nvSpPr>
          <p:cNvPr id="3" name="Text 0"/>
          <p:cNvSpPr/>
          <p:nvPr>
            <p:ph idx="101" type="body" hasCustomPrompt="1"/>
          </p:nvPr>
        </p:nvSpPr>
        <p:spPr>
          <a:xfrm>
            <a:off x="548640" y="3794760"/>
            <a:ext cx="7863840" cy="548640"/>
          </a:xfrm>
          <a:prstGeom prst="rect">
            <a:avLst/>
          </a:prstGeom>
          <a:noFill/>
          <a:ln/>
        </p:spPr>
        <p:txBody>
          <a:bodyPr wrap="square" lIns="0" tIns="0" rIns="0" bIns="0" rtlCol="0"/>
          <a:lstStyle/>
          <a:p>
            <a:pPr indent="0" marL="0">
              <a:buNone/>
            </a:pPr>
            <a:r>
              <a:rPr lang="en-US" sz="2200" dirty="0">
                <a:solidFill>
                  <a:srgbClr val="BFD7E6"/>
                </a:solidFill>
              </a:rPr>
              <a:t>Summarizing data in SQL</a:t>
            </a:r>
            <a:endParaRPr lang="en-US" sz="2200" dirty="0"/>
          </a:p>
        </p:txBody>
      </p:sp>
      <p:sp>
        <p:nvSpPr>
          <p:cNvPr id="4" name="details"/>
          <p:cNvSpPr txBox="1"/>
          <p:nvPr/>
        </p:nvSpPr>
        <p:spPr>
          <a:xfrm>
            <a:off x="548640" y="4754880"/>
            <a:ext cx="7863840" cy="731520"/>
          </a:xfrm>
          <a:prstGeom prst="rect">
            <a:avLst/>
          </a:prstGeom>
          <a:noFill/>
          <a:ln/>
        </p:spPr>
        <p:txBody>
          <a:bodyPr wrap="square" lIns="0" tIns="0" rIns="0" bIns="0" rtlCol="0" anchor="t"/>
          <a:lstStyle/>
          <a:p>
            <a:pPr indent="0" marL="0">
              <a:lnSpc>
                <a:spcPct val="130000"/>
              </a:lnSpc>
              <a:buNone/>
            </a:pPr>
            <a:r>
              <a:rPr lang="en-US" sz="1500" dirty="0">
                <a:solidFill>
                  <a:srgbClr val="BFD7E6"/>
                </a:solidFill>
              </a:rPr>
              <a:t>Independent self-study · Topic 32 · Organization of DBMS</a:t>
            </a:r>
            <a:endParaRPr lang="en-US" sz="1500" dirty="0"/>
          </a:p>
          <a:p>
            <a:pPr indent="0" marL="0">
              <a:lnSpc>
                <a:spcPct val="130000"/>
              </a:lnSpc>
              <a:buNone/>
            </a:pPr>
            <a:r>
              <a:rPr lang="en-US" sz="1500" dirty="0">
                <a:solidFill>
                  <a:srgbClr val="BFD7E6"/>
                </a:solidFill>
              </a:rPr>
              <a:t>Doe John · group SISCCO-2502NS</a:t>
            </a:r>
            <a:endParaRPr lang="en-US" sz="1500" dirty="0"/>
          </a:p>
        </p:txBody>
      </p:sp>
      <p:sp>
        <p:nvSpPr>
          <p:cNvPr id="5" name="sigma"/>
          <p:cNvSpPr txBox="1"/>
          <p:nvPr/>
        </p:nvSpPr>
        <p:spPr>
          <a:xfrm>
            <a:off x="8595360" y="1005840"/>
            <a:ext cx="3108960" cy="3840480"/>
          </a:xfrm>
          <a:prstGeom prst="rect">
            <a:avLst/>
          </a:prstGeom>
          <a:noFill/>
          <a:ln/>
        </p:spPr>
        <p:txBody>
          <a:bodyPr wrap="square" lIns="0" tIns="0" rIns="0" bIns="0" rtlCol="0" anchor="ctr"/>
          <a:lstStyle/>
          <a:p>
            <a:pPr algn="ctr" indent="0" marL="0">
              <a:buNone/>
            </a:pPr>
            <a:r>
              <a:rPr lang="en-US" sz="25000" b="1" dirty="0">
                <a:solidFill>
                  <a:srgbClr val="F2A541"/>
                </a:solidFill>
              </a:rPr>
              <a:t>Σ</a:t>
            </a:r>
            <a:endParaRPr lang="en-US" sz="25000" dirty="0"/>
          </a:p>
        </p:txBody>
      </p:sp>
      <p:sp>
        <p:nvSpPr>
          <p:cNvPr id="6" name="sigma code"/>
          <p:cNvSpPr txBox="1"/>
          <p:nvPr/>
        </p:nvSpPr>
        <p:spPr>
          <a:xfrm>
            <a:off x="8229600" y="4937760"/>
            <a:ext cx="3410712" cy="365760"/>
          </a:xfrm>
          <a:prstGeom prst="rect">
            <a:avLst/>
          </a:prstGeom>
          <a:noFill/>
          <a:ln/>
        </p:spPr>
        <p:txBody>
          <a:bodyPr wrap="square" lIns="0" tIns="0" rIns="0" bIns="0" rtlCol="0" anchor="t"/>
          <a:lstStyle/>
          <a:p>
            <a:pPr algn="ctr" indent="0" marL="0">
              <a:buNone/>
            </a:pPr>
            <a:r>
              <a:rPr lang="en-US" sz="1500" dirty="0">
                <a:solidFill>
                  <a:srgbClr val="7FD1DD"/>
                </a:solidFill>
                <a:latin typeface="Courier New" pitchFamily="34" charset="0"/>
                <a:ea typeface="Courier New" pitchFamily="34" charset="-122"/>
                <a:cs typeface="Courier New" pitchFamily="34" charset="-120"/>
              </a:rPr>
              <a:t>AVG(grade) … GROUP BY course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Many rows in, one value out</a:t>
            </a:r>
            <a:endParaRPr lang="en-US" sz="3200" dirty="0"/>
          </a:p>
        </p:txBody>
      </p:sp>
      <p:sp>
        <p:nvSpPr>
          <p:cNvPr id="3" name="grade chip 0"/>
          <p:cNvSpPr/>
          <p:nvPr/>
        </p:nvSpPr>
        <p:spPr>
          <a:xfrm>
            <a:off x="548640" y="1508760"/>
            <a:ext cx="1463040" cy="512064"/>
          </a:xfrm>
          <a:prstGeom prst="roundRect">
            <a:avLst>
              <a:gd name="adj" fmla="val 14286"/>
            </a:avLst>
          </a:prstGeom>
          <a:solidFill>
            <a:srgbClr val="D7EEF1"/>
          </a:solidFill>
          <a:ln w="12700">
            <a:solidFill>
              <a:srgbClr val="1F8A99"/>
            </a:solidFill>
            <a:prstDash val="solid"/>
          </a:ln>
        </p:spPr>
      </p:sp>
      <p:sp>
        <p:nvSpPr>
          <p:cNvPr id="4" name="grade 0"/>
          <p:cNvSpPr txBox="1"/>
          <p:nvPr/>
        </p:nvSpPr>
        <p:spPr>
          <a:xfrm>
            <a:off x="548640" y="1508760"/>
            <a:ext cx="1463040" cy="512064"/>
          </a:xfrm>
          <a:prstGeom prst="rect">
            <a:avLst/>
          </a:prstGeom>
          <a:noFill/>
          <a:ln/>
        </p:spPr>
        <p:txBody>
          <a:bodyPr wrap="square" lIns="0" tIns="0" rIns="0" bIns="0" rtlCol="0" anchor="ctr"/>
          <a:lstStyle/>
          <a:p>
            <a:pPr algn="ctr" indent="0" marL="0">
              <a:buNone/>
            </a:pPr>
            <a:r>
              <a:rPr lang="en-US" sz="1800" b="1" dirty="0">
                <a:solidFill>
                  <a:srgbClr val="0E3B5C"/>
                </a:solidFill>
              </a:rPr>
              <a:t>91</a:t>
            </a:r>
            <a:endParaRPr lang="en-US" sz="1800" dirty="0"/>
          </a:p>
        </p:txBody>
      </p:sp>
      <p:sp>
        <p:nvSpPr>
          <p:cNvPr id="5" name="grade chip 1"/>
          <p:cNvSpPr/>
          <p:nvPr/>
        </p:nvSpPr>
        <p:spPr>
          <a:xfrm>
            <a:off x="548640" y="2167128"/>
            <a:ext cx="1463040" cy="512064"/>
          </a:xfrm>
          <a:prstGeom prst="roundRect">
            <a:avLst>
              <a:gd name="adj" fmla="val 14286"/>
            </a:avLst>
          </a:prstGeom>
          <a:solidFill>
            <a:srgbClr val="D7EEF1"/>
          </a:solidFill>
          <a:ln w="12700">
            <a:solidFill>
              <a:srgbClr val="1F8A99"/>
            </a:solidFill>
            <a:prstDash val="solid"/>
          </a:ln>
        </p:spPr>
      </p:sp>
      <p:sp>
        <p:nvSpPr>
          <p:cNvPr id="6" name="grade 1"/>
          <p:cNvSpPr txBox="1"/>
          <p:nvPr/>
        </p:nvSpPr>
        <p:spPr>
          <a:xfrm>
            <a:off x="548640" y="2167128"/>
            <a:ext cx="1463040" cy="512064"/>
          </a:xfrm>
          <a:prstGeom prst="rect">
            <a:avLst/>
          </a:prstGeom>
          <a:noFill/>
          <a:ln/>
        </p:spPr>
        <p:txBody>
          <a:bodyPr wrap="square" lIns="0" tIns="0" rIns="0" bIns="0" rtlCol="0" anchor="ctr"/>
          <a:lstStyle/>
          <a:p>
            <a:pPr algn="ctr" indent="0" marL="0">
              <a:buNone/>
            </a:pPr>
            <a:r>
              <a:rPr lang="en-US" sz="1800" b="1" dirty="0">
                <a:solidFill>
                  <a:srgbClr val="0E3B5C"/>
                </a:solidFill>
              </a:rPr>
              <a:t>85</a:t>
            </a:r>
            <a:endParaRPr lang="en-US" sz="1800" dirty="0"/>
          </a:p>
        </p:txBody>
      </p:sp>
      <p:sp>
        <p:nvSpPr>
          <p:cNvPr id="7" name="grade chip 2"/>
          <p:cNvSpPr/>
          <p:nvPr/>
        </p:nvSpPr>
        <p:spPr>
          <a:xfrm>
            <a:off x="548640" y="2825496"/>
            <a:ext cx="1463040" cy="512064"/>
          </a:xfrm>
          <a:prstGeom prst="roundRect">
            <a:avLst>
              <a:gd name="adj" fmla="val 14286"/>
            </a:avLst>
          </a:prstGeom>
          <a:solidFill>
            <a:srgbClr val="D7EEF1"/>
          </a:solidFill>
          <a:ln w="12700">
            <a:solidFill>
              <a:srgbClr val="1F8A99"/>
            </a:solidFill>
            <a:prstDash val="solid"/>
          </a:ln>
        </p:spPr>
      </p:sp>
      <p:sp>
        <p:nvSpPr>
          <p:cNvPr id="8" name="grade 2"/>
          <p:cNvSpPr txBox="1"/>
          <p:nvPr/>
        </p:nvSpPr>
        <p:spPr>
          <a:xfrm>
            <a:off x="548640" y="2825496"/>
            <a:ext cx="1463040" cy="512064"/>
          </a:xfrm>
          <a:prstGeom prst="rect">
            <a:avLst/>
          </a:prstGeom>
          <a:noFill/>
          <a:ln/>
        </p:spPr>
        <p:txBody>
          <a:bodyPr wrap="square" lIns="0" tIns="0" rIns="0" bIns="0" rtlCol="0" anchor="ctr"/>
          <a:lstStyle/>
          <a:p>
            <a:pPr algn="ctr" indent="0" marL="0">
              <a:buNone/>
            </a:pPr>
            <a:r>
              <a:rPr lang="en-US" sz="1800" b="1" dirty="0">
                <a:solidFill>
                  <a:srgbClr val="0E3B5C"/>
                </a:solidFill>
              </a:rPr>
              <a:t>77</a:t>
            </a:r>
            <a:endParaRPr lang="en-US" sz="1800" dirty="0"/>
          </a:p>
        </p:txBody>
      </p:sp>
      <p:sp>
        <p:nvSpPr>
          <p:cNvPr id="9" name="grade chip 3"/>
          <p:cNvSpPr/>
          <p:nvPr/>
        </p:nvSpPr>
        <p:spPr>
          <a:xfrm>
            <a:off x="548640" y="3483864"/>
            <a:ext cx="1463040" cy="512064"/>
          </a:xfrm>
          <a:prstGeom prst="roundRect">
            <a:avLst>
              <a:gd name="adj" fmla="val 14286"/>
            </a:avLst>
          </a:prstGeom>
          <a:solidFill>
            <a:srgbClr val="D7EEF1"/>
          </a:solidFill>
          <a:ln w="12700">
            <a:solidFill>
              <a:srgbClr val="1F8A99"/>
            </a:solidFill>
            <a:prstDash val="solid"/>
          </a:ln>
        </p:spPr>
      </p:sp>
      <p:sp>
        <p:nvSpPr>
          <p:cNvPr id="10" name="grade 3"/>
          <p:cNvSpPr txBox="1"/>
          <p:nvPr/>
        </p:nvSpPr>
        <p:spPr>
          <a:xfrm>
            <a:off x="548640" y="3483864"/>
            <a:ext cx="1463040" cy="512064"/>
          </a:xfrm>
          <a:prstGeom prst="rect">
            <a:avLst/>
          </a:prstGeom>
          <a:noFill/>
          <a:ln/>
        </p:spPr>
        <p:txBody>
          <a:bodyPr wrap="square" lIns="0" tIns="0" rIns="0" bIns="0" rtlCol="0" anchor="ctr"/>
          <a:lstStyle/>
          <a:p>
            <a:pPr algn="ctr" indent="0" marL="0">
              <a:buNone/>
            </a:pPr>
            <a:r>
              <a:rPr lang="en-US" sz="1800" b="1" dirty="0">
                <a:solidFill>
                  <a:srgbClr val="0E3B5C"/>
                </a:solidFill>
              </a:rPr>
              <a:t>94</a:t>
            </a:r>
            <a:endParaRPr lang="en-US" sz="1800" dirty="0"/>
          </a:p>
        </p:txBody>
      </p:sp>
      <p:sp>
        <p:nvSpPr>
          <p:cNvPr id="11" name="grade chip 4"/>
          <p:cNvSpPr/>
          <p:nvPr/>
        </p:nvSpPr>
        <p:spPr>
          <a:xfrm>
            <a:off x="548640" y="4142232"/>
            <a:ext cx="1463040" cy="512064"/>
          </a:xfrm>
          <a:prstGeom prst="roundRect">
            <a:avLst>
              <a:gd name="adj" fmla="val 14286"/>
            </a:avLst>
          </a:prstGeom>
          <a:solidFill>
            <a:srgbClr val="D7EEF1"/>
          </a:solidFill>
          <a:ln w="12700">
            <a:solidFill>
              <a:srgbClr val="1F8A99"/>
            </a:solidFill>
            <a:prstDash val="solid"/>
          </a:ln>
        </p:spPr>
      </p:sp>
      <p:sp>
        <p:nvSpPr>
          <p:cNvPr id="12" name="grade 4"/>
          <p:cNvSpPr txBox="1"/>
          <p:nvPr/>
        </p:nvSpPr>
        <p:spPr>
          <a:xfrm>
            <a:off x="548640" y="4142232"/>
            <a:ext cx="1463040" cy="512064"/>
          </a:xfrm>
          <a:prstGeom prst="rect">
            <a:avLst/>
          </a:prstGeom>
          <a:noFill/>
          <a:ln/>
        </p:spPr>
        <p:txBody>
          <a:bodyPr wrap="square" lIns="0" tIns="0" rIns="0" bIns="0" rtlCol="0" anchor="ctr"/>
          <a:lstStyle/>
          <a:p>
            <a:pPr algn="ctr" indent="0" marL="0">
              <a:buNone/>
            </a:pPr>
            <a:r>
              <a:rPr lang="en-US" sz="1800" b="1" dirty="0">
                <a:solidFill>
                  <a:srgbClr val="0E3B5C"/>
                </a:solidFill>
              </a:rPr>
              <a:t>48</a:t>
            </a:r>
            <a:endParaRPr lang="en-US" sz="1800" dirty="0"/>
          </a:p>
        </p:txBody>
      </p:sp>
      <p:sp>
        <p:nvSpPr>
          <p:cNvPr id="13" name="grade chip 5"/>
          <p:cNvSpPr/>
          <p:nvPr/>
        </p:nvSpPr>
        <p:spPr>
          <a:xfrm>
            <a:off x="548640" y="4800600"/>
            <a:ext cx="1463040" cy="512064"/>
          </a:xfrm>
          <a:prstGeom prst="roundRect">
            <a:avLst>
              <a:gd name="adj" fmla="val 14286"/>
            </a:avLst>
          </a:prstGeom>
          <a:solidFill>
            <a:srgbClr val="FFFFFF"/>
          </a:solidFill>
          <a:ln w="12700">
            <a:solidFill>
              <a:srgbClr val="1F8A99"/>
            </a:solidFill>
            <a:prstDash val="solid"/>
          </a:ln>
        </p:spPr>
      </p:sp>
      <p:sp>
        <p:nvSpPr>
          <p:cNvPr id="14" name="grade 5"/>
          <p:cNvSpPr txBox="1"/>
          <p:nvPr/>
        </p:nvSpPr>
        <p:spPr>
          <a:xfrm>
            <a:off x="548640" y="4800600"/>
            <a:ext cx="1463040" cy="512064"/>
          </a:xfrm>
          <a:prstGeom prst="rect">
            <a:avLst/>
          </a:prstGeom>
          <a:noFill/>
          <a:ln/>
        </p:spPr>
        <p:txBody>
          <a:bodyPr wrap="square" lIns="0" tIns="0" rIns="0" bIns="0" rtlCol="0" anchor="ctr"/>
          <a:lstStyle/>
          <a:p>
            <a:pPr algn="ctr" indent="0" marL="0">
              <a:buNone/>
            </a:pPr>
            <a:r>
              <a:rPr lang="en-US" sz="1800" b="1" dirty="0">
                <a:solidFill>
                  <a:srgbClr val="0E3B5C"/>
                </a:solidFill>
              </a:rPr>
              <a:t>…</a:t>
            </a:r>
            <a:endParaRPr lang="en-US" sz="1800" dirty="0"/>
          </a:p>
        </p:txBody>
      </p:sp>
      <p:sp>
        <p:nvSpPr>
          <p:cNvPr id="15" name="chips label"/>
          <p:cNvSpPr txBox="1"/>
          <p:nvPr/>
        </p:nvSpPr>
        <p:spPr>
          <a:xfrm>
            <a:off x="548640" y="5532120"/>
            <a:ext cx="1737360" cy="320040"/>
          </a:xfrm>
          <a:prstGeom prst="rect">
            <a:avLst/>
          </a:prstGeom>
          <a:noFill/>
          <a:ln/>
        </p:spPr>
        <p:txBody>
          <a:bodyPr wrap="square" lIns="0" tIns="0" rIns="0" bIns="0" rtlCol="0" anchor="t"/>
          <a:lstStyle/>
          <a:p>
            <a:pPr indent="0" marL="0">
              <a:buNone/>
            </a:pPr>
            <a:r>
              <a:rPr lang="en-US" sz="1200" dirty="0">
                <a:solidFill>
                  <a:srgbClr val="5B6B78"/>
                </a:solidFill>
              </a:rPr>
              <a:t>10 graded rows</a:t>
            </a:r>
            <a:endParaRPr lang="en-US" sz="1200" dirty="0"/>
          </a:p>
        </p:txBody>
      </p:sp>
      <p:sp>
        <p:nvSpPr>
          <p:cNvPr id="16" name="arrow"/>
          <p:cNvSpPr/>
          <p:nvPr/>
        </p:nvSpPr>
        <p:spPr>
          <a:xfrm>
            <a:off x="2331720" y="3246120"/>
            <a:ext cx="1097280" cy="640080"/>
          </a:xfrm>
          <a:prstGeom prst="rightArrow">
            <a:avLst/>
          </a:prstGeom>
          <a:solidFill>
            <a:srgbClr val="F2A541"/>
          </a:solidFill>
          <a:ln/>
        </p:spPr>
      </p:sp>
      <p:sp>
        <p:nvSpPr>
          <p:cNvPr id="17" name="result card"/>
          <p:cNvSpPr/>
          <p:nvPr/>
        </p:nvSpPr>
        <p:spPr>
          <a:xfrm>
            <a:off x="3657600" y="2331720"/>
            <a:ext cx="2651760" cy="2468880"/>
          </a:xfrm>
          <a:prstGeom prst="roundRect">
            <a:avLst>
              <a:gd name="adj" fmla="val 4444"/>
            </a:avLst>
          </a:prstGeom>
          <a:solidFill>
            <a:srgbClr val="0E3B5C"/>
          </a:solidFill>
          <a:ln/>
          <a:effectLst>
            <a:outerShdw sx="100000" sy="100000" kx="0" ky="0" algn="bl" rotWithShape="0" blurRad="76200" dist="25400" dir="5400000">
              <a:srgbClr val="0E3B5C">
                <a:alpha val="12000"/>
              </a:srgbClr>
            </a:outerShdw>
          </a:effectLst>
        </p:spPr>
      </p:sp>
      <p:sp>
        <p:nvSpPr>
          <p:cNvPr id="18" name="result fn"/>
          <p:cNvSpPr txBox="1"/>
          <p:nvPr/>
        </p:nvSpPr>
        <p:spPr>
          <a:xfrm>
            <a:off x="3657600" y="2560320"/>
            <a:ext cx="2651760" cy="411480"/>
          </a:xfrm>
          <a:prstGeom prst="rect">
            <a:avLst/>
          </a:prstGeom>
          <a:noFill/>
          <a:ln/>
        </p:spPr>
        <p:txBody>
          <a:bodyPr wrap="square" lIns="0" tIns="0" rIns="0" bIns="0" rtlCol="0" anchor="t"/>
          <a:lstStyle/>
          <a:p>
            <a:pPr algn="ctr" indent="0" marL="0">
              <a:buNone/>
            </a:pPr>
            <a:r>
              <a:rPr lang="en-US" sz="1800" b="1" dirty="0">
                <a:solidFill>
                  <a:srgbClr val="F2A541"/>
                </a:solidFill>
                <a:latin typeface="Courier New" pitchFamily="34" charset="0"/>
                <a:ea typeface="Courier New" pitchFamily="34" charset="-122"/>
                <a:cs typeface="Courier New" pitchFamily="34" charset="-120"/>
              </a:rPr>
              <a:t>AVG(grade)</a:t>
            </a:r>
            <a:endParaRPr lang="en-US" sz="1800" dirty="0"/>
          </a:p>
        </p:txBody>
      </p:sp>
      <p:sp>
        <p:nvSpPr>
          <p:cNvPr id="19" name="result value"/>
          <p:cNvSpPr txBox="1"/>
          <p:nvPr/>
        </p:nvSpPr>
        <p:spPr>
          <a:xfrm>
            <a:off x="3657600" y="3063240"/>
            <a:ext cx="2651760" cy="1097280"/>
          </a:xfrm>
          <a:prstGeom prst="rect">
            <a:avLst/>
          </a:prstGeom>
          <a:noFill/>
          <a:ln/>
        </p:spPr>
        <p:txBody>
          <a:bodyPr wrap="square" lIns="0" tIns="0" rIns="0" bIns="0" rtlCol="0" anchor="ctr"/>
          <a:lstStyle/>
          <a:p>
            <a:pPr algn="ctr" indent="0" marL="0">
              <a:buNone/>
            </a:pPr>
            <a:r>
              <a:rPr lang="en-US" sz="6000" b="1" dirty="0">
                <a:solidFill>
                  <a:srgbClr val="FFFFFF"/>
                </a:solidFill>
              </a:rPr>
              <a:t>79.3</a:t>
            </a:r>
            <a:endParaRPr lang="en-US" sz="6000" dirty="0"/>
          </a:p>
        </p:txBody>
      </p:sp>
      <p:sp>
        <p:nvSpPr>
          <p:cNvPr id="20" name="result label"/>
          <p:cNvSpPr txBox="1"/>
          <p:nvPr/>
        </p:nvSpPr>
        <p:spPr>
          <a:xfrm>
            <a:off x="3657600" y="4206240"/>
            <a:ext cx="2651760" cy="365760"/>
          </a:xfrm>
          <a:prstGeom prst="rect">
            <a:avLst/>
          </a:prstGeom>
          <a:noFill/>
          <a:ln/>
        </p:spPr>
        <p:txBody>
          <a:bodyPr wrap="square" lIns="0" tIns="0" rIns="0" bIns="0" rtlCol="0" anchor="t"/>
          <a:lstStyle/>
          <a:p>
            <a:pPr algn="ctr" indent="0" marL="0">
              <a:buNone/>
            </a:pPr>
            <a:r>
              <a:rPr lang="en-US" sz="1400" dirty="0">
                <a:solidFill>
                  <a:srgbClr val="BFD7E6"/>
                </a:solidFill>
              </a:rPr>
              <a:t>one value</a:t>
            </a:r>
            <a:endParaRPr lang="en-US" sz="1400" dirty="0"/>
          </a:p>
        </p:txBody>
      </p:sp>
      <p:sp>
        <p:nvSpPr>
          <p:cNvPr id="21" name="concept bullets"/>
          <p:cNvSpPr txBox="1"/>
          <p:nvPr/>
        </p:nvSpPr>
        <p:spPr>
          <a:xfrm>
            <a:off x="6858000" y="1920240"/>
            <a:ext cx="4754880" cy="329184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1B2433"/>
                </a:solidFill>
              </a:rPr>
              <a:t>An aggregate function takes a whole set of rows and returns a single value.</a:t>
            </a:r>
            <a:endParaRPr lang="en-US" sz="1800" dirty="0"/>
          </a:p>
          <a:p>
            <a:pPr marL="342900" indent="-342900">
              <a:spcAft>
                <a:spcPts val="1600"/>
              </a:spcAft>
              <a:buSzPct val="100000"/>
              <a:buChar char="•"/>
            </a:pPr>
            <a:r>
              <a:rPr lang="en-US" sz="1800" dirty="0">
                <a:solidFill>
                  <a:srgbClr val="1B2433"/>
                </a:solidFill>
              </a:rPr>
              <a:t>It powers every summary: totals, averages, counts, best and worst values.</a:t>
            </a:r>
            <a:endParaRPr lang="en-US" sz="1800" dirty="0"/>
          </a:p>
          <a:p>
            <a:pPr marL="342900" indent="-342900">
              <a:spcAft>
                <a:spcPts val="1600"/>
              </a:spcAft>
              <a:buSzPct val="100000"/>
              <a:buChar char="•"/>
            </a:pPr>
            <a:r>
              <a:rPr lang="en-US" sz="1800" dirty="0">
                <a:solidFill>
                  <a:srgbClr val="1B2433"/>
                </a:solidFill>
              </a:rPr>
              <a:t>GROUP BY applies the same idea to each group of rows separately — one summary per group.</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The five standard aggregate functions</a:t>
            </a:r>
            <a:endParaRPr lang="en-US" sz="3200" dirty="0"/>
          </a:p>
        </p:txBody>
      </p:sp>
      <p:sp>
        <p:nvSpPr>
          <p:cNvPr id="3" name="COUNT card"/>
          <p:cNvSpPr/>
          <p:nvPr/>
        </p:nvSpPr>
        <p:spPr>
          <a:xfrm>
            <a:off x="548640" y="1463040"/>
            <a:ext cx="2072030" cy="4206240"/>
          </a:xfrm>
          <a:prstGeom prst="roundRect">
            <a:avLst>
              <a:gd name="adj" fmla="val 5296"/>
            </a:avLst>
          </a:prstGeom>
          <a:solidFill>
            <a:srgbClr val="EEF3F7"/>
          </a:solidFill>
          <a:ln/>
          <a:effectLst>
            <a:outerShdw sx="100000" sy="100000" kx="0" ky="0" algn="bl" rotWithShape="0" blurRad="76200" dist="25400" dir="5400000">
              <a:srgbClr val="0E3B5C">
                <a:alpha val="12000"/>
              </a:srgbClr>
            </a:outerShdw>
          </a:effectLst>
        </p:spPr>
      </p:sp>
      <p:sp>
        <p:nvSpPr>
          <p:cNvPr id="4" name="COUNT name"/>
          <p:cNvSpPr txBox="1"/>
          <p:nvPr/>
        </p:nvSpPr>
        <p:spPr>
          <a:xfrm>
            <a:off x="731520" y="1691640"/>
            <a:ext cx="1706270" cy="502920"/>
          </a:xfrm>
          <a:prstGeom prst="rect">
            <a:avLst/>
          </a:prstGeom>
          <a:noFill/>
          <a:ln/>
        </p:spPr>
        <p:txBody>
          <a:bodyPr wrap="square" lIns="0" tIns="0" rIns="0" bIns="0" rtlCol="0" anchor="t"/>
          <a:lstStyle/>
          <a:p>
            <a:pPr indent="0" marL="0">
              <a:buNone/>
            </a:pPr>
            <a:r>
              <a:rPr lang="en-US" sz="2600" b="1" dirty="0">
                <a:solidFill>
                  <a:srgbClr val="0E3B5C"/>
                </a:solidFill>
                <a:latin typeface="Courier New" pitchFamily="34" charset="0"/>
                <a:ea typeface="Courier New" pitchFamily="34" charset="-122"/>
                <a:cs typeface="Courier New" pitchFamily="34" charset="-120"/>
              </a:rPr>
              <a:t>COUNT</a:t>
            </a:r>
            <a:endParaRPr lang="en-US" sz="2600" dirty="0"/>
          </a:p>
        </p:txBody>
      </p:sp>
      <p:sp>
        <p:nvSpPr>
          <p:cNvPr id="5" name="COUNT desc"/>
          <p:cNvSpPr txBox="1"/>
          <p:nvPr/>
        </p:nvSpPr>
        <p:spPr>
          <a:xfrm>
            <a:off x="731520" y="2286000"/>
            <a:ext cx="1706270" cy="1143000"/>
          </a:xfrm>
          <a:prstGeom prst="rect">
            <a:avLst/>
          </a:prstGeom>
          <a:noFill/>
          <a:ln/>
        </p:spPr>
        <p:txBody>
          <a:bodyPr wrap="square" lIns="0" tIns="0" rIns="0" bIns="0" rtlCol="0" anchor="t"/>
          <a:lstStyle/>
          <a:p>
            <a:pPr indent="0" marL="0">
              <a:buNone/>
            </a:pPr>
            <a:r>
              <a:rPr lang="en-US" sz="1500" dirty="0">
                <a:solidFill>
                  <a:srgbClr val="1B2433"/>
                </a:solidFill>
              </a:rPr>
              <a:t>Number of rows, or of non-NULL values</a:t>
            </a:r>
            <a:endParaRPr lang="en-US" sz="1500" dirty="0"/>
          </a:p>
        </p:txBody>
      </p:sp>
      <p:sp>
        <p:nvSpPr>
          <p:cNvPr id="6" name="COUNT on data"/>
          <p:cNvSpPr txBox="1"/>
          <p:nvPr/>
        </p:nvSpPr>
        <p:spPr>
          <a:xfrm>
            <a:off x="731520" y="3611880"/>
            <a:ext cx="1706270" cy="274320"/>
          </a:xfrm>
          <a:prstGeom prst="rect">
            <a:avLst/>
          </a:prstGeom>
          <a:noFill/>
          <a:ln/>
        </p:spPr>
        <p:txBody>
          <a:bodyPr wrap="square" lIns="0" tIns="0" rIns="0" bIns="0" rtlCol="0" anchor="t"/>
          <a:lstStyle/>
          <a:p>
            <a:pPr indent="0" marL="0">
              <a:buNone/>
            </a:pPr>
            <a:r>
              <a:rPr lang="en-US" sz="1200" dirty="0">
                <a:solidFill>
                  <a:srgbClr val="5B6B78"/>
                </a:solidFill>
              </a:rPr>
              <a:t>On our data</a:t>
            </a:r>
            <a:endParaRPr lang="en-US" sz="1200" dirty="0"/>
          </a:p>
        </p:txBody>
      </p:sp>
      <p:sp>
        <p:nvSpPr>
          <p:cNvPr id="7" name="COUNT value"/>
          <p:cNvSpPr txBox="1"/>
          <p:nvPr/>
        </p:nvSpPr>
        <p:spPr>
          <a:xfrm>
            <a:off x="731520" y="3886200"/>
            <a:ext cx="1706270" cy="777240"/>
          </a:xfrm>
          <a:prstGeom prst="rect">
            <a:avLst/>
          </a:prstGeom>
          <a:noFill/>
          <a:ln/>
        </p:spPr>
        <p:txBody>
          <a:bodyPr wrap="square" lIns="0" tIns="0" rIns="0" bIns="0" rtlCol="0" anchor="t"/>
          <a:lstStyle/>
          <a:p>
            <a:pPr indent="0" marL="0">
              <a:buNone/>
            </a:pPr>
            <a:r>
              <a:rPr lang="en-US" sz="4000" b="1" dirty="0">
                <a:solidFill>
                  <a:srgbClr val="1F8A99"/>
                </a:solidFill>
              </a:rPr>
              <a:t>11</a:t>
            </a:r>
            <a:endParaRPr lang="en-US" sz="4000" dirty="0"/>
          </a:p>
        </p:txBody>
      </p:sp>
      <p:sp>
        <p:nvSpPr>
          <p:cNvPr id="8" name="COUNT query"/>
          <p:cNvSpPr txBox="1"/>
          <p:nvPr/>
        </p:nvSpPr>
        <p:spPr>
          <a:xfrm>
            <a:off x="731520" y="4846320"/>
            <a:ext cx="1706270" cy="365760"/>
          </a:xfrm>
          <a:prstGeom prst="rect">
            <a:avLst/>
          </a:prstGeom>
          <a:noFill/>
          <a:ln/>
        </p:spPr>
        <p:txBody>
          <a:bodyPr wrap="square" lIns="0" tIns="0" rIns="0" bIns="0" rtlCol="0" anchor="t"/>
          <a:lstStyle/>
          <a:p>
            <a:pPr indent="0" marL="0">
              <a:buNone/>
            </a:pPr>
            <a:r>
              <a:rPr lang="en-US" sz="1400" dirty="0">
                <a:solidFill>
                  <a:srgbClr val="5B6B78"/>
                </a:solidFill>
                <a:latin typeface="Courier New" pitchFamily="34" charset="0"/>
                <a:ea typeface="Courier New" pitchFamily="34" charset="-122"/>
                <a:cs typeface="Courier New" pitchFamily="34" charset="-120"/>
              </a:rPr>
              <a:t>COUNT(*)</a:t>
            </a:r>
            <a:endParaRPr lang="en-US" sz="1400" dirty="0"/>
          </a:p>
        </p:txBody>
      </p:sp>
      <p:sp>
        <p:nvSpPr>
          <p:cNvPr id="9" name="SUM card"/>
          <p:cNvSpPr/>
          <p:nvPr/>
        </p:nvSpPr>
        <p:spPr>
          <a:xfrm>
            <a:off x="2803550" y="1463040"/>
            <a:ext cx="2072030" cy="4206240"/>
          </a:xfrm>
          <a:prstGeom prst="roundRect">
            <a:avLst>
              <a:gd name="adj" fmla="val 5296"/>
            </a:avLst>
          </a:prstGeom>
          <a:solidFill>
            <a:srgbClr val="EEF3F7"/>
          </a:solidFill>
          <a:ln/>
          <a:effectLst>
            <a:outerShdw sx="100000" sy="100000" kx="0" ky="0" algn="bl" rotWithShape="0" blurRad="76200" dist="25400" dir="5400000">
              <a:srgbClr val="0E3B5C">
                <a:alpha val="12000"/>
              </a:srgbClr>
            </a:outerShdw>
          </a:effectLst>
        </p:spPr>
      </p:sp>
      <p:sp>
        <p:nvSpPr>
          <p:cNvPr id="10" name="SUM name"/>
          <p:cNvSpPr txBox="1"/>
          <p:nvPr/>
        </p:nvSpPr>
        <p:spPr>
          <a:xfrm>
            <a:off x="2986430" y="1691640"/>
            <a:ext cx="1706270" cy="502920"/>
          </a:xfrm>
          <a:prstGeom prst="rect">
            <a:avLst/>
          </a:prstGeom>
          <a:noFill/>
          <a:ln/>
        </p:spPr>
        <p:txBody>
          <a:bodyPr wrap="square" lIns="0" tIns="0" rIns="0" bIns="0" rtlCol="0" anchor="t"/>
          <a:lstStyle/>
          <a:p>
            <a:pPr indent="0" marL="0">
              <a:buNone/>
            </a:pPr>
            <a:r>
              <a:rPr lang="en-US" sz="2600" b="1" dirty="0">
                <a:solidFill>
                  <a:srgbClr val="0E3B5C"/>
                </a:solidFill>
                <a:latin typeface="Courier New" pitchFamily="34" charset="0"/>
                <a:ea typeface="Courier New" pitchFamily="34" charset="-122"/>
                <a:cs typeface="Courier New" pitchFamily="34" charset="-120"/>
              </a:rPr>
              <a:t>SUM</a:t>
            </a:r>
            <a:endParaRPr lang="en-US" sz="2600" dirty="0"/>
          </a:p>
        </p:txBody>
      </p:sp>
      <p:sp>
        <p:nvSpPr>
          <p:cNvPr id="11" name="SUM desc"/>
          <p:cNvSpPr txBox="1"/>
          <p:nvPr/>
        </p:nvSpPr>
        <p:spPr>
          <a:xfrm>
            <a:off x="2986430" y="2286000"/>
            <a:ext cx="1706270" cy="1143000"/>
          </a:xfrm>
          <a:prstGeom prst="rect">
            <a:avLst/>
          </a:prstGeom>
          <a:noFill/>
          <a:ln/>
        </p:spPr>
        <p:txBody>
          <a:bodyPr wrap="square" lIns="0" tIns="0" rIns="0" bIns="0" rtlCol="0" anchor="t"/>
          <a:lstStyle/>
          <a:p>
            <a:pPr indent="0" marL="0">
              <a:buNone/>
            </a:pPr>
            <a:r>
              <a:rPr lang="en-US" sz="1500" dirty="0">
                <a:solidFill>
                  <a:srgbClr val="1B2433"/>
                </a:solidFill>
              </a:rPr>
              <a:t>Total of a numeric column</a:t>
            </a:r>
            <a:endParaRPr lang="en-US" sz="1500" dirty="0"/>
          </a:p>
        </p:txBody>
      </p:sp>
      <p:sp>
        <p:nvSpPr>
          <p:cNvPr id="12" name="SUM on data"/>
          <p:cNvSpPr txBox="1"/>
          <p:nvPr/>
        </p:nvSpPr>
        <p:spPr>
          <a:xfrm>
            <a:off x="2986430" y="3611880"/>
            <a:ext cx="1706270" cy="274320"/>
          </a:xfrm>
          <a:prstGeom prst="rect">
            <a:avLst/>
          </a:prstGeom>
          <a:noFill/>
          <a:ln/>
        </p:spPr>
        <p:txBody>
          <a:bodyPr wrap="square" lIns="0" tIns="0" rIns="0" bIns="0" rtlCol="0" anchor="t"/>
          <a:lstStyle/>
          <a:p>
            <a:pPr indent="0" marL="0">
              <a:buNone/>
            </a:pPr>
            <a:r>
              <a:rPr lang="en-US" sz="1200" dirty="0">
                <a:solidFill>
                  <a:srgbClr val="5B6B78"/>
                </a:solidFill>
              </a:rPr>
              <a:t>On our data</a:t>
            </a:r>
            <a:endParaRPr lang="en-US" sz="1200" dirty="0"/>
          </a:p>
        </p:txBody>
      </p:sp>
      <p:sp>
        <p:nvSpPr>
          <p:cNvPr id="13" name="SUM value"/>
          <p:cNvSpPr txBox="1"/>
          <p:nvPr/>
        </p:nvSpPr>
        <p:spPr>
          <a:xfrm>
            <a:off x="2986430" y="3886200"/>
            <a:ext cx="1706270" cy="777240"/>
          </a:xfrm>
          <a:prstGeom prst="rect">
            <a:avLst/>
          </a:prstGeom>
          <a:noFill/>
          <a:ln/>
        </p:spPr>
        <p:txBody>
          <a:bodyPr wrap="square" lIns="0" tIns="0" rIns="0" bIns="0" rtlCol="0" anchor="t"/>
          <a:lstStyle/>
          <a:p>
            <a:pPr indent="0" marL="0">
              <a:buNone/>
            </a:pPr>
            <a:r>
              <a:rPr lang="en-US" sz="4000" b="1" dirty="0">
                <a:solidFill>
                  <a:srgbClr val="1F8A99"/>
                </a:solidFill>
              </a:rPr>
              <a:t>793</a:t>
            </a:r>
            <a:endParaRPr lang="en-US" sz="4000" dirty="0"/>
          </a:p>
        </p:txBody>
      </p:sp>
      <p:sp>
        <p:nvSpPr>
          <p:cNvPr id="14" name="SUM query"/>
          <p:cNvSpPr txBox="1"/>
          <p:nvPr/>
        </p:nvSpPr>
        <p:spPr>
          <a:xfrm>
            <a:off x="2986430" y="4846320"/>
            <a:ext cx="1706270" cy="365760"/>
          </a:xfrm>
          <a:prstGeom prst="rect">
            <a:avLst/>
          </a:prstGeom>
          <a:noFill/>
          <a:ln/>
        </p:spPr>
        <p:txBody>
          <a:bodyPr wrap="square" lIns="0" tIns="0" rIns="0" bIns="0" rtlCol="0" anchor="t"/>
          <a:lstStyle/>
          <a:p>
            <a:pPr indent="0" marL="0">
              <a:buNone/>
            </a:pPr>
            <a:r>
              <a:rPr lang="en-US" sz="1400" dirty="0">
                <a:solidFill>
                  <a:srgbClr val="5B6B78"/>
                </a:solidFill>
                <a:latin typeface="Courier New" pitchFamily="34" charset="0"/>
                <a:ea typeface="Courier New" pitchFamily="34" charset="-122"/>
                <a:cs typeface="Courier New" pitchFamily="34" charset="-120"/>
              </a:rPr>
              <a:t>SUM(grade)</a:t>
            </a:r>
            <a:endParaRPr lang="en-US" sz="1400" dirty="0"/>
          </a:p>
        </p:txBody>
      </p:sp>
      <p:sp>
        <p:nvSpPr>
          <p:cNvPr id="15" name="AVG card"/>
          <p:cNvSpPr/>
          <p:nvPr/>
        </p:nvSpPr>
        <p:spPr>
          <a:xfrm>
            <a:off x="5058461" y="1463040"/>
            <a:ext cx="2072030" cy="4206240"/>
          </a:xfrm>
          <a:prstGeom prst="roundRect">
            <a:avLst>
              <a:gd name="adj" fmla="val 5296"/>
            </a:avLst>
          </a:prstGeom>
          <a:solidFill>
            <a:srgbClr val="EEF3F7"/>
          </a:solidFill>
          <a:ln/>
          <a:effectLst>
            <a:outerShdw sx="100000" sy="100000" kx="0" ky="0" algn="bl" rotWithShape="0" blurRad="76200" dist="25400" dir="5400000">
              <a:srgbClr val="0E3B5C">
                <a:alpha val="12000"/>
              </a:srgbClr>
            </a:outerShdw>
          </a:effectLst>
        </p:spPr>
      </p:sp>
      <p:sp>
        <p:nvSpPr>
          <p:cNvPr id="16" name="AVG name"/>
          <p:cNvSpPr txBox="1"/>
          <p:nvPr/>
        </p:nvSpPr>
        <p:spPr>
          <a:xfrm>
            <a:off x="5241341" y="1691640"/>
            <a:ext cx="1706270" cy="502920"/>
          </a:xfrm>
          <a:prstGeom prst="rect">
            <a:avLst/>
          </a:prstGeom>
          <a:noFill/>
          <a:ln/>
        </p:spPr>
        <p:txBody>
          <a:bodyPr wrap="square" lIns="0" tIns="0" rIns="0" bIns="0" rtlCol="0" anchor="t"/>
          <a:lstStyle/>
          <a:p>
            <a:pPr indent="0" marL="0">
              <a:buNone/>
            </a:pPr>
            <a:r>
              <a:rPr lang="en-US" sz="2600" b="1" dirty="0">
                <a:solidFill>
                  <a:srgbClr val="0E3B5C"/>
                </a:solidFill>
                <a:latin typeface="Courier New" pitchFamily="34" charset="0"/>
                <a:ea typeface="Courier New" pitchFamily="34" charset="-122"/>
                <a:cs typeface="Courier New" pitchFamily="34" charset="-120"/>
              </a:rPr>
              <a:t>AVG</a:t>
            </a:r>
            <a:endParaRPr lang="en-US" sz="2600" dirty="0"/>
          </a:p>
        </p:txBody>
      </p:sp>
      <p:sp>
        <p:nvSpPr>
          <p:cNvPr id="17" name="AVG desc"/>
          <p:cNvSpPr txBox="1"/>
          <p:nvPr/>
        </p:nvSpPr>
        <p:spPr>
          <a:xfrm>
            <a:off x="5241341" y="2286000"/>
            <a:ext cx="1706270" cy="1143000"/>
          </a:xfrm>
          <a:prstGeom prst="rect">
            <a:avLst/>
          </a:prstGeom>
          <a:noFill/>
          <a:ln/>
        </p:spPr>
        <p:txBody>
          <a:bodyPr wrap="square" lIns="0" tIns="0" rIns="0" bIns="0" rtlCol="0" anchor="t"/>
          <a:lstStyle/>
          <a:p>
            <a:pPr indent="0" marL="0">
              <a:buNone/>
            </a:pPr>
            <a:r>
              <a:rPr lang="en-US" sz="1500" dirty="0">
                <a:solidFill>
                  <a:srgbClr val="1B2433"/>
                </a:solidFill>
              </a:rPr>
              <a:t>Arithmetic mean of a numeric column</a:t>
            </a:r>
            <a:endParaRPr lang="en-US" sz="1500" dirty="0"/>
          </a:p>
        </p:txBody>
      </p:sp>
      <p:sp>
        <p:nvSpPr>
          <p:cNvPr id="18" name="AVG on data"/>
          <p:cNvSpPr txBox="1"/>
          <p:nvPr/>
        </p:nvSpPr>
        <p:spPr>
          <a:xfrm>
            <a:off x="5241341" y="3611880"/>
            <a:ext cx="1706270" cy="274320"/>
          </a:xfrm>
          <a:prstGeom prst="rect">
            <a:avLst/>
          </a:prstGeom>
          <a:noFill/>
          <a:ln/>
        </p:spPr>
        <p:txBody>
          <a:bodyPr wrap="square" lIns="0" tIns="0" rIns="0" bIns="0" rtlCol="0" anchor="t"/>
          <a:lstStyle/>
          <a:p>
            <a:pPr indent="0" marL="0">
              <a:buNone/>
            </a:pPr>
            <a:r>
              <a:rPr lang="en-US" sz="1200" dirty="0">
                <a:solidFill>
                  <a:srgbClr val="5B6B78"/>
                </a:solidFill>
              </a:rPr>
              <a:t>On our data</a:t>
            </a:r>
            <a:endParaRPr lang="en-US" sz="1200" dirty="0"/>
          </a:p>
        </p:txBody>
      </p:sp>
      <p:sp>
        <p:nvSpPr>
          <p:cNvPr id="19" name="AVG value"/>
          <p:cNvSpPr txBox="1"/>
          <p:nvPr/>
        </p:nvSpPr>
        <p:spPr>
          <a:xfrm>
            <a:off x="5241341" y="3886200"/>
            <a:ext cx="1706270" cy="777240"/>
          </a:xfrm>
          <a:prstGeom prst="rect">
            <a:avLst/>
          </a:prstGeom>
          <a:noFill/>
          <a:ln/>
        </p:spPr>
        <p:txBody>
          <a:bodyPr wrap="square" lIns="0" tIns="0" rIns="0" bIns="0" rtlCol="0" anchor="t"/>
          <a:lstStyle/>
          <a:p>
            <a:pPr indent="0" marL="0">
              <a:buNone/>
            </a:pPr>
            <a:r>
              <a:rPr lang="en-US" sz="4000" b="1" dirty="0">
                <a:solidFill>
                  <a:srgbClr val="1F8A99"/>
                </a:solidFill>
              </a:rPr>
              <a:t>79.3</a:t>
            </a:r>
            <a:endParaRPr lang="en-US" sz="4000" dirty="0"/>
          </a:p>
        </p:txBody>
      </p:sp>
      <p:sp>
        <p:nvSpPr>
          <p:cNvPr id="20" name="AVG query"/>
          <p:cNvSpPr txBox="1"/>
          <p:nvPr/>
        </p:nvSpPr>
        <p:spPr>
          <a:xfrm>
            <a:off x="5241341" y="4846320"/>
            <a:ext cx="1706270" cy="365760"/>
          </a:xfrm>
          <a:prstGeom prst="rect">
            <a:avLst/>
          </a:prstGeom>
          <a:noFill/>
          <a:ln/>
        </p:spPr>
        <p:txBody>
          <a:bodyPr wrap="square" lIns="0" tIns="0" rIns="0" bIns="0" rtlCol="0" anchor="t"/>
          <a:lstStyle/>
          <a:p>
            <a:pPr indent="0" marL="0">
              <a:buNone/>
            </a:pPr>
            <a:r>
              <a:rPr lang="en-US" sz="1400" dirty="0">
                <a:solidFill>
                  <a:srgbClr val="5B6B78"/>
                </a:solidFill>
                <a:latin typeface="Courier New" pitchFamily="34" charset="0"/>
                <a:ea typeface="Courier New" pitchFamily="34" charset="-122"/>
                <a:cs typeface="Courier New" pitchFamily="34" charset="-120"/>
              </a:rPr>
              <a:t>AVG(grade)</a:t>
            </a:r>
            <a:endParaRPr lang="en-US" sz="1400" dirty="0"/>
          </a:p>
        </p:txBody>
      </p:sp>
      <p:sp>
        <p:nvSpPr>
          <p:cNvPr id="21" name="MIN card"/>
          <p:cNvSpPr/>
          <p:nvPr/>
        </p:nvSpPr>
        <p:spPr>
          <a:xfrm>
            <a:off x="7313371" y="1463040"/>
            <a:ext cx="2072030" cy="4206240"/>
          </a:xfrm>
          <a:prstGeom prst="roundRect">
            <a:avLst>
              <a:gd name="adj" fmla="val 5296"/>
            </a:avLst>
          </a:prstGeom>
          <a:solidFill>
            <a:srgbClr val="EEF3F7"/>
          </a:solidFill>
          <a:ln/>
          <a:effectLst>
            <a:outerShdw sx="100000" sy="100000" kx="0" ky="0" algn="bl" rotWithShape="0" blurRad="76200" dist="25400" dir="5400000">
              <a:srgbClr val="0E3B5C">
                <a:alpha val="12000"/>
              </a:srgbClr>
            </a:outerShdw>
          </a:effectLst>
        </p:spPr>
      </p:sp>
      <p:sp>
        <p:nvSpPr>
          <p:cNvPr id="22" name="MIN name"/>
          <p:cNvSpPr txBox="1"/>
          <p:nvPr/>
        </p:nvSpPr>
        <p:spPr>
          <a:xfrm>
            <a:off x="7496251" y="1691640"/>
            <a:ext cx="1706270" cy="502920"/>
          </a:xfrm>
          <a:prstGeom prst="rect">
            <a:avLst/>
          </a:prstGeom>
          <a:noFill/>
          <a:ln/>
        </p:spPr>
        <p:txBody>
          <a:bodyPr wrap="square" lIns="0" tIns="0" rIns="0" bIns="0" rtlCol="0" anchor="t"/>
          <a:lstStyle/>
          <a:p>
            <a:pPr indent="0" marL="0">
              <a:buNone/>
            </a:pPr>
            <a:r>
              <a:rPr lang="en-US" sz="2600" b="1" dirty="0">
                <a:solidFill>
                  <a:srgbClr val="0E3B5C"/>
                </a:solidFill>
                <a:latin typeface="Courier New" pitchFamily="34" charset="0"/>
                <a:ea typeface="Courier New" pitchFamily="34" charset="-122"/>
                <a:cs typeface="Courier New" pitchFamily="34" charset="-120"/>
              </a:rPr>
              <a:t>MIN</a:t>
            </a:r>
            <a:endParaRPr lang="en-US" sz="2600" dirty="0"/>
          </a:p>
        </p:txBody>
      </p:sp>
      <p:sp>
        <p:nvSpPr>
          <p:cNvPr id="23" name="MIN desc"/>
          <p:cNvSpPr txBox="1"/>
          <p:nvPr/>
        </p:nvSpPr>
        <p:spPr>
          <a:xfrm>
            <a:off x="7496251" y="2286000"/>
            <a:ext cx="1706270" cy="1143000"/>
          </a:xfrm>
          <a:prstGeom prst="rect">
            <a:avLst/>
          </a:prstGeom>
          <a:noFill/>
          <a:ln/>
        </p:spPr>
        <p:txBody>
          <a:bodyPr wrap="square" lIns="0" tIns="0" rIns="0" bIns="0" rtlCol="0" anchor="t"/>
          <a:lstStyle/>
          <a:p>
            <a:pPr indent="0" marL="0">
              <a:buNone/>
            </a:pPr>
            <a:r>
              <a:rPr lang="en-US" sz="1500" dirty="0">
                <a:solidFill>
                  <a:srgbClr val="1B2433"/>
                </a:solidFill>
              </a:rPr>
              <a:t>Smallest value — numbers, text or dates</a:t>
            </a:r>
            <a:endParaRPr lang="en-US" sz="1500" dirty="0"/>
          </a:p>
        </p:txBody>
      </p:sp>
      <p:sp>
        <p:nvSpPr>
          <p:cNvPr id="24" name="MIN on data"/>
          <p:cNvSpPr txBox="1"/>
          <p:nvPr/>
        </p:nvSpPr>
        <p:spPr>
          <a:xfrm>
            <a:off x="7496251" y="3611880"/>
            <a:ext cx="1706270" cy="274320"/>
          </a:xfrm>
          <a:prstGeom prst="rect">
            <a:avLst/>
          </a:prstGeom>
          <a:noFill/>
          <a:ln/>
        </p:spPr>
        <p:txBody>
          <a:bodyPr wrap="square" lIns="0" tIns="0" rIns="0" bIns="0" rtlCol="0" anchor="t"/>
          <a:lstStyle/>
          <a:p>
            <a:pPr indent="0" marL="0">
              <a:buNone/>
            </a:pPr>
            <a:r>
              <a:rPr lang="en-US" sz="1200" dirty="0">
                <a:solidFill>
                  <a:srgbClr val="5B6B78"/>
                </a:solidFill>
              </a:rPr>
              <a:t>On our data</a:t>
            </a:r>
            <a:endParaRPr lang="en-US" sz="1200" dirty="0"/>
          </a:p>
        </p:txBody>
      </p:sp>
      <p:sp>
        <p:nvSpPr>
          <p:cNvPr id="25" name="MIN value"/>
          <p:cNvSpPr txBox="1"/>
          <p:nvPr/>
        </p:nvSpPr>
        <p:spPr>
          <a:xfrm>
            <a:off x="7496251" y="3886200"/>
            <a:ext cx="1706270" cy="777240"/>
          </a:xfrm>
          <a:prstGeom prst="rect">
            <a:avLst/>
          </a:prstGeom>
          <a:noFill/>
          <a:ln/>
        </p:spPr>
        <p:txBody>
          <a:bodyPr wrap="square" lIns="0" tIns="0" rIns="0" bIns="0" rtlCol="0" anchor="t"/>
          <a:lstStyle/>
          <a:p>
            <a:pPr indent="0" marL="0">
              <a:buNone/>
            </a:pPr>
            <a:r>
              <a:rPr lang="en-US" sz="4000" b="1" dirty="0">
                <a:solidFill>
                  <a:srgbClr val="1F8A99"/>
                </a:solidFill>
              </a:rPr>
              <a:t>48</a:t>
            </a:r>
            <a:endParaRPr lang="en-US" sz="4000" dirty="0"/>
          </a:p>
        </p:txBody>
      </p:sp>
      <p:sp>
        <p:nvSpPr>
          <p:cNvPr id="26" name="MIN query"/>
          <p:cNvSpPr txBox="1"/>
          <p:nvPr/>
        </p:nvSpPr>
        <p:spPr>
          <a:xfrm>
            <a:off x="7496251" y="4846320"/>
            <a:ext cx="1706270" cy="365760"/>
          </a:xfrm>
          <a:prstGeom prst="rect">
            <a:avLst/>
          </a:prstGeom>
          <a:noFill/>
          <a:ln/>
        </p:spPr>
        <p:txBody>
          <a:bodyPr wrap="square" lIns="0" tIns="0" rIns="0" bIns="0" rtlCol="0" anchor="t"/>
          <a:lstStyle/>
          <a:p>
            <a:pPr indent="0" marL="0">
              <a:buNone/>
            </a:pPr>
            <a:r>
              <a:rPr lang="en-US" sz="1400" dirty="0">
                <a:solidFill>
                  <a:srgbClr val="5B6B78"/>
                </a:solidFill>
                <a:latin typeface="Courier New" pitchFamily="34" charset="0"/>
                <a:ea typeface="Courier New" pitchFamily="34" charset="-122"/>
                <a:cs typeface="Courier New" pitchFamily="34" charset="-120"/>
              </a:rPr>
              <a:t>MIN(grade)</a:t>
            </a:r>
            <a:endParaRPr lang="en-US" sz="1400" dirty="0"/>
          </a:p>
        </p:txBody>
      </p:sp>
      <p:sp>
        <p:nvSpPr>
          <p:cNvPr id="27" name="MAX card"/>
          <p:cNvSpPr/>
          <p:nvPr/>
        </p:nvSpPr>
        <p:spPr>
          <a:xfrm>
            <a:off x="9568282" y="1463040"/>
            <a:ext cx="2072030" cy="4206240"/>
          </a:xfrm>
          <a:prstGeom prst="roundRect">
            <a:avLst>
              <a:gd name="adj" fmla="val 5296"/>
            </a:avLst>
          </a:prstGeom>
          <a:solidFill>
            <a:srgbClr val="EEF3F7"/>
          </a:solidFill>
          <a:ln/>
          <a:effectLst>
            <a:outerShdw sx="100000" sy="100000" kx="0" ky="0" algn="bl" rotWithShape="0" blurRad="76200" dist="25400" dir="5400000">
              <a:srgbClr val="0E3B5C">
                <a:alpha val="12000"/>
              </a:srgbClr>
            </a:outerShdw>
          </a:effectLst>
        </p:spPr>
      </p:sp>
      <p:sp>
        <p:nvSpPr>
          <p:cNvPr id="28" name="MAX name"/>
          <p:cNvSpPr txBox="1"/>
          <p:nvPr/>
        </p:nvSpPr>
        <p:spPr>
          <a:xfrm>
            <a:off x="9751162" y="1691640"/>
            <a:ext cx="1706270" cy="502920"/>
          </a:xfrm>
          <a:prstGeom prst="rect">
            <a:avLst/>
          </a:prstGeom>
          <a:noFill/>
          <a:ln/>
        </p:spPr>
        <p:txBody>
          <a:bodyPr wrap="square" lIns="0" tIns="0" rIns="0" bIns="0" rtlCol="0" anchor="t"/>
          <a:lstStyle/>
          <a:p>
            <a:pPr indent="0" marL="0">
              <a:buNone/>
            </a:pPr>
            <a:r>
              <a:rPr lang="en-US" sz="2600" b="1" dirty="0">
                <a:solidFill>
                  <a:srgbClr val="0E3B5C"/>
                </a:solidFill>
                <a:latin typeface="Courier New" pitchFamily="34" charset="0"/>
                <a:ea typeface="Courier New" pitchFamily="34" charset="-122"/>
                <a:cs typeface="Courier New" pitchFamily="34" charset="-120"/>
              </a:rPr>
              <a:t>MAX</a:t>
            </a:r>
            <a:endParaRPr lang="en-US" sz="2600" dirty="0"/>
          </a:p>
        </p:txBody>
      </p:sp>
      <p:sp>
        <p:nvSpPr>
          <p:cNvPr id="29" name="MAX desc"/>
          <p:cNvSpPr txBox="1"/>
          <p:nvPr/>
        </p:nvSpPr>
        <p:spPr>
          <a:xfrm>
            <a:off x="9751162" y="2286000"/>
            <a:ext cx="1706270" cy="1143000"/>
          </a:xfrm>
          <a:prstGeom prst="rect">
            <a:avLst/>
          </a:prstGeom>
          <a:noFill/>
          <a:ln/>
        </p:spPr>
        <p:txBody>
          <a:bodyPr wrap="square" lIns="0" tIns="0" rIns="0" bIns="0" rtlCol="0" anchor="t"/>
          <a:lstStyle/>
          <a:p>
            <a:pPr indent="0" marL="0">
              <a:buNone/>
            </a:pPr>
            <a:r>
              <a:rPr lang="en-US" sz="1500" dirty="0">
                <a:solidFill>
                  <a:srgbClr val="1B2433"/>
                </a:solidFill>
              </a:rPr>
              <a:t>Largest value — numbers, text or dates</a:t>
            </a:r>
            <a:endParaRPr lang="en-US" sz="1500" dirty="0"/>
          </a:p>
        </p:txBody>
      </p:sp>
      <p:sp>
        <p:nvSpPr>
          <p:cNvPr id="30" name="MAX on data"/>
          <p:cNvSpPr txBox="1"/>
          <p:nvPr/>
        </p:nvSpPr>
        <p:spPr>
          <a:xfrm>
            <a:off x="9751162" y="3611880"/>
            <a:ext cx="1706270" cy="274320"/>
          </a:xfrm>
          <a:prstGeom prst="rect">
            <a:avLst/>
          </a:prstGeom>
          <a:noFill/>
          <a:ln/>
        </p:spPr>
        <p:txBody>
          <a:bodyPr wrap="square" lIns="0" tIns="0" rIns="0" bIns="0" rtlCol="0" anchor="t"/>
          <a:lstStyle/>
          <a:p>
            <a:pPr indent="0" marL="0">
              <a:buNone/>
            </a:pPr>
            <a:r>
              <a:rPr lang="en-US" sz="1200" dirty="0">
                <a:solidFill>
                  <a:srgbClr val="5B6B78"/>
                </a:solidFill>
              </a:rPr>
              <a:t>On our data</a:t>
            </a:r>
            <a:endParaRPr lang="en-US" sz="1200" dirty="0"/>
          </a:p>
        </p:txBody>
      </p:sp>
      <p:sp>
        <p:nvSpPr>
          <p:cNvPr id="31" name="MAX value"/>
          <p:cNvSpPr txBox="1"/>
          <p:nvPr/>
        </p:nvSpPr>
        <p:spPr>
          <a:xfrm>
            <a:off x="9751162" y="3886200"/>
            <a:ext cx="1706270" cy="777240"/>
          </a:xfrm>
          <a:prstGeom prst="rect">
            <a:avLst/>
          </a:prstGeom>
          <a:noFill/>
          <a:ln/>
        </p:spPr>
        <p:txBody>
          <a:bodyPr wrap="square" lIns="0" tIns="0" rIns="0" bIns="0" rtlCol="0" anchor="t"/>
          <a:lstStyle/>
          <a:p>
            <a:pPr indent="0" marL="0">
              <a:buNone/>
            </a:pPr>
            <a:r>
              <a:rPr lang="en-US" sz="4000" b="1" dirty="0">
                <a:solidFill>
                  <a:srgbClr val="1F8A99"/>
                </a:solidFill>
              </a:rPr>
              <a:t>94</a:t>
            </a:r>
            <a:endParaRPr lang="en-US" sz="4000" dirty="0"/>
          </a:p>
        </p:txBody>
      </p:sp>
      <p:sp>
        <p:nvSpPr>
          <p:cNvPr id="32" name="MAX query"/>
          <p:cNvSpPr txBox="1"/>
          <p:nvPr/>
        </p:nvSpPr>
        <p:spPr>
          <a:xfrm>
            <a:off x="9751162" y="4846320"/>
            <a:ext cx="1706270" cy="365760"/>
          </a:xfrm>
          <a:prstGeom prst="rect">
            <a:avLst/>
          </a:prstGeom>
          <a:noFill/>
          <a:ln/>
        </p:spPr>
        <p:txBody>
          <a:bodyPr wrap="square" lIns="0" tIns="0" rIns="0" bIns="0" rtlCol="0" anchor="t"/>
          <a:lstStyle/>
          <a:p>
            <a:pPr indent="0" marL="0">
              <a:buNone/>
            </a:pPr>
            <a:r>
              <a:rPr lang="en-US" sz="1400" dirty="0">
                <a:solidFill>
                  <a:srgbClr val="5B6B78"/>
                </a:solidFill>
                <a:latin typeface="Courier New" pitchFamily="34" charset="0"/>
                <a:ea typeface="Courier New" pitchFamily="34" charset="-122"/>
                <a:cs typeface="Courier New" pitchFamily="34" charset="-120"/>
              </a:rPr>
              <a:t>MAX(grade)</a:t>
            </a:r>
            <a:endParaRPr lang="en-US" sz="1400" dirty="0"/>
          </a:p>
        </p:txBody>
      </p:sp>
      <p:sp>
        <p:nvSpPr>
          <p:cNvPr id="33" name="caption"/>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300" i="1" dirty="0">
                <a:solidFill>
                  <a:srgbClr val="5B6B78"/>
                </a:solidFill>
              </a:rPr>
              <a:t>All five skip NULL values — only COUNT(*) counts rows regardless of NULLs.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Sample data: the enrollments table</a:t>
            </a:r>
            <a:endParaRPr lang="en-US" sz="3200" dirty="0"/>
          </a:p>
        </p:txBody>
      </p:sp>
      <p:graphicFrame>
        <p:nvGraphicFramePr>
          <p:cNvPr id="5" name="sample table"/>
          <p:cNvGraphicFramePr>
            <a:graphicFrameLocks noGrp="1"/>
          </p:cNvGraphicFramePr>
          <p:nvPr>
            <p:extLst>
              <p:ext uri="{D42A27DB-BD31-4B8C-83A1-F6EECF244321}">
                <p14:modId xmlns:p14="http://schemas.microsoft.com/office/powerpoint/2010/main" val="1579011935"/>
              </p:ext>
            </p:extLst>
          </p:nvPr>
        </p:nvGraphicFramePr>
        <p:xfrm>
          <a:off x="548640" y="1371600"/>
          <a:ext cx="5029200" cy="914400"/>
        </p:xfrm>
        <a:graphic>
          <a:graphicData uri="http://schemas.openxmlformats.org/drawingml/2006/table">
            <a:tbl>
              <a:tblPr/>
              <a:tblGrid>
                <a:gridCol w="1920240"/>
                <a:gridCol w="1920240"/>
                <a:gridCol w="1188720"/>
              </a:tblGrid>
              <a:tr h="329184">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student</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course</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grade</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r>
              <a:tr h="329184">
                <a:tc>
                  <a:txBody>
                    <a:bodyPr/>
                    <a:lstStyle/>
                    <a:p>
                      <a:pPr algn="l" indent="0" marL="0">
                        <a:buNone/>
                      </a:pPr>
                      <a:r>
                        <a:rPr lang="en-US" sz="1300" dirty="0">
                          <a:solidFill>
                            <a:srgbClr val="1B2433"/>
                          </a:solidFill>
                        </a:rPr>
                        <a:t>Doe</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DBMS2101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91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rPr>
                        <a:t>Doe</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PROG1101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85</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rPr>
                        <a:t>Seitkali</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DBMS2101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77</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rPr>
                        <a:t>Seitkali</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PROG1101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94</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rPr>
                        <a:t>Petrov</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PROG1101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48</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rPr>
                        <a:t>Omarova</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PROG1101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88</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rPr>
                        <a:t>Omarova</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ISYS2201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73</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rPr>
                        <a:t>Garcia</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PROG1101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65</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rPr>
                        <a:t>Garcia</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ISYS2201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b="1" i="1" dirty="0">
                          <a:solidFill>
                            <a:srgbClr val="9A6A12"/>
                          </a:solidFill>
                        </a:rPr>
                        <a:t>NULL</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CEBC9"/>
                    </a:solidFill>
                  </a:tcPr>
                </a:tc>
              </a:tr>
              <a:tr h="329184">
                <a:tc>
                  <a:txBody>
                    <a:bodyPr/>
                    <a:lstStyle/>
                    <a:p>
                      <a:pPr algn="l" indent="0" marL="0">
                        <a:buNone/>
                      </a:pPr>
                      <a:r>
                        <a:rPr lang="en-US" sz="1300" dirty="0">
                          <a:solidFill>
                            <a:srgbClr val="1B2433"/>
                          </a:solidFill>
                        </a:rPr>
                        <a:t>Bekov</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ECON1101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82</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rPr>
                        <a:t>Wilson</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rPr>
                        <a:t>ECON1101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90</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bl>
          </a:graphicData>
        </a:graphic>
      </p:graphicFrame>
      <p:sp>
        <p:nvSpPr>
          <p:cNvPr id="4" name="stat 0"/>
          <p:cNvSpPr/>
          <p:nvPr/>
        </p:nvSpPr>
        <p:spPr>
          <a:xfrm>
            <a:off x="6583680" y="1463040"/>
            <a:ext cx="5029200" cy="1188720"/>
          </a:xfrm>
          <a:prstGeom prst="roundRect">
            <a:avLst>
              <a:gd name="adj" fmla="val 9231"/>
            </a:avLst>
          </a:prstGeom>
          <a:solidFill>
            <a:srgbClr val="EEF3F7"/>
          </a:solidFill>
          <a:ln/>
          <a:effectLst>
            <a:outerShdw sx="100000" sy="100000" kx="0" ky="0" algn="bl" rotWithShape="0" blurRad="76200" dist="25400" dir="5400000">
              <a:srgbClr val="0E3B5C">
                <a:alpha val="12000"/>
              </a:srgbClr>
            </a:outerShdw>
          </a:effectLst>
        </p:spPr>
      </p:sp>
      <p:sp>
        <p:nvSpPr>
          <p:cNvPr id="5" name="stat num 0"/>
          <p:cNvSpPr txBox="1"/>
          <p:nvPr/>
        </p:nvSpPr>
        <p:spPr>
          <a:xfrm>
            <a:off x="6812280" y="1600200"/>
            <a:ext cx="1188720" cy="914400"/>
          </a:xfrm>
          <a:prstGeom prst="rect">
            <a:avLst/>
          </a:prstGeom>
          <a:noFill/>
          <a:ln/>
        </p:spPr>
        <p:txBody>
          <a:bodyPr wrap="square" lIns="0" tIns="0" rIns="0" bIns="0" rtlCol="0" anchor="ctr"/>
          <a:lstStyle/>
          <a:p>
            <a:pPr indent="0" marL="0">
              <a:buNone/>
            </a:pPr>
            <a:r>
              <a:rPr lang="en-US" sz="4800" b="1" dirty="0">
                <a:solidFill>
                  <a:srgbClr val="0E3B5C"/>
                </a:solidFill>
              </a:rPr>
              <a:t>11</a:t>
            </a:r>
            <a:endParaRPr lang="en-US" sz="4800" dirty="0"/>
          </a:p>
        </p:txBody>
      </p:sp>
      <p:sp>
        <p:nvSpPr>
          <p:cNvPr id="6" name="stat label 0"/>
          <p:cNvSpPr txBox="1"/>
          <p:nvPr/>
        </p:nvSpPr>
        <p:spPr>
          <a:xfrm>
            <a:off x="8046720" y="1600200"/>
            <a:ext cx="3383280" cy="914400"/>
          </a:xfrm>
          <a:prstGeom prst="rect">
            <a:avLst/>
          </a:prstGeom>
          <a:noFill/>
          <a:ln/>
        </p:spPr>
        <p:txBody>
          <a:bodyPr wrap="square" lIns="0" tIns="0" rIns="0" bIns="0" rtlCol="0" anchor="ctr"/>
          <a:lstStyle/>
          <a:p>
            <a:pPr indent="0" marL="0">
              <a:buNone/>
            </a:pPr>
            <a:r>
              <a:rPr lang="en-US" sz="1800" dirty="0">
                <a:solidFill>
                  <a:srgbClr val="1B2433"/>
                </a:solidFill>
              </a:rPr>
              <a:t>rows (enrollments)</a:t>
            </a:r>
            <a:endParaRPr lang="en-US" sz="1800" dirty="0"/>
          </a:p>
        </p:txBody>
      </p:sp>
      <p:sp>
        <p:nvSpPr>
          <p:cNvPr id="7" name="stat 1"/>
          <p:cNvSpPr/>
          <p:nvPr/>
        </p:nvSpPr>
        <p:spPr>
          <a:xfrm>
            <a:off x="6583680" y="2926080"/>
            <a:ext cx="5029200" cy="1188720"/>
          </a:xfrm>
          <a:prstGeom prst="roundRect">
            <a:avLst>
              <a:gd name="adj" fmla="val 9231"/>
            </a:avLst>
          </a:prstGeom>
          <a:solidFill>
            <a:srgbClr val="EEF3F7"/>
          </a:solidFill>
          <a:ln/>
          <a:effectLst>
            <a:outerShdw sx="100000" sy="100000" kx="0" ky="0" algn="bl" rotWithShape="0" blurRad="76200" dist="25400" dir="5400000">
              <a:srgbClr val="0E3B5C">
                <a:alpha val="12000"/>
              </a:srgbClr>
            </a:outerShdw>
          </a:effectLst>
        </p:spPr>
      </p:sp>
      <p:sp>
        <p:nvSpPr>
          <p:cNvPr id="8" name="stat num 1"/>
          <p:cNvSpPr txBox="1"/>
          <p:nvPr/>
        </p:nvSpPr>
        <p:spPr>
          <a:xfrm>
            <a:off x="6812280" y="3063240"/>
            <a:ext cx="1188720" cy="914400"/>
          </a:xfrm>
          <a:prstGeom prst="rect">
            <a:avLst/>
          </a:prstGeom>
          <a:noFill/>
          <a:ln/>
        </p:spPr>
        <p:txBody>
          <a:bodyPr wrap="square" lIns="0" tIns="0" rIns="0" bIns="0" rtlCol="0" anchor="ctr"/>
          <a:lstStyle/>
          <a:p>
            <a:pPr indent="0" marL="0">
              <a:buNone/>
            </a:pPr>
            <a:r>
              <a:rPr lang="en-US" sz="4800" b="1" dirty="0">
                <a:solidFill>
                  <a:srgbClr val="0E3B5C"/>
                </a:solidFill>
              </a:rPr>
              <a:t>4</a:t>
            </a:r>
            <a:endParaRPr lang="en-US" sz="4800" dirty="0"/>
          </a:p>
        </p:txBody>
      </p:sp>
      <p:sp>
        <p:nvSpPr>
          <p:cNvPr id="9" name="stat label 1"/>
          <p:cNvSpPr txBox="1"/>
          <p:nvPr/>
        </p:nvSpPr>
        <p:spPr>
          <a:xfrm>
            <a:off x="8046720" y="3063240"/>
            <a:ext cx="3383280" cy="914400"/>
          </a:xfrm>
          <a:prstGeom prst="rect">
            <a:avLst/>
          </a:prstGeom>
          <a:noFill/>
          <a:ln/>
        </p:spPr>
        <p:txBody>
          <a:bodyPr wrap="square" lIns="0" tIns="0" rIns="0" bIns="0" rtlCol="0" anchor="ctr"/>
          <a:lstStyle/>
          <a:p>
            <a:pPr indent="0" marL="0">
              <a:buNone/>
            </a:pPr>
            <a:r>
              <a:rPr lang="en-US" sz="1800" dirty="0">
                <a:solidFill>
                  <a:srgbClr val="1B2433"/>
                </a:solidFill>
              </a:rPr>
              <a:t>different courses</a:t>
            </a:r>
            <a:endParaRPr lang="en-US" sz="1800" dirty="0"/>
          </a:p>
        </p:txBody>
      </p:sp>
      <p:sp>
        <p:nvSpPr>
          <p:cNvPr id="10" name="stat 2"/>
          <p:cNvSpPr/>
          <p:nvPr/>
        </p:nvSpPr>
        <p:spPr>
          <a:xfrm>
            <a:off x="6583680" y="4389120"/>
            <a:ext cx="5029200" cy="1188720"/>
          </a:xfrm>
          <a:prstGeom prst="roundRect">
            <a:avLst>
              <a:gd name="adj" fmla="val 9231"/>
            </a:avLst>
          </a:prstGeom>
          <a:solidFill>
            <a:srgbClr val="EEF3F7"/>
          </a:solidFill>
          <a:ln/>
          <a:effectLst>
            <a:outerShdw sx="100000" sy="100000" kx="0" ky="0" algn="bl" rotWithShape="0" blurRad="76200" dist="25400" dir="5400000">
              <a:srgbClr val="0E3B5C">
                <a:alpha val="12000"/>
              </a:srgbClr>
            </a:outerShdw>
          </a:effectLst>
        </p:spPr>
      </p:sp>
      <p:sp>
        <p:nvSpPr>
          <p:cNvPr id="11" name="stat num 2"/>
          <p:cNvSpPr txBox="1"/>
          <p:nvPr/>
        </p:nvSpPr>
        <p:spPr>
          <a:xfrm>
            <a:off x="6812280" y="4526280"/>
            <a:ext cx="1188720" cy="914400"/>
          </a:xfrm>
          <a:prstGeom prst="rect">
            <a:avLst/>
          </a:prstGeom>
          <a:noFill/>
          <a:ln/>
        </p:spPr>
        <p:txBody>
          <a:bodyPr wrap="square" lIns="0" tIns="0" rIns="0" bIns="0" rtlCol="0" anchor="ctr"/>
          <a:lstStyle/>
          <a:p>
            <a:pPr indent="0" marL="0">
              <a:buNone/>
            </a:pPr>
            <a:r>
              <a:rPr lang="en-US" sz="4800" b="1" dirty="0">
                <a:solidFill>
                  <a:srgbClr val="B7791F"/>
                </a:solidFill>
              </a:rPr>
              <a:t>1</a:t>
            </a:r>
            <a:endParaRPr lang="en-US" sz="4800" dirty="0"/>
          </a:p>
        </p:txBody>
      </p:sp>
      <p:sp>
        <p:nvSpPr>
          <p:cNvPr id="12" name="stat label 2"/>
          <p:cNvSpPr txBox="1"/>
          <p:nvPr/>
        </p:nvSpPr>
        <p:spPr>
          <a:xfrm>
            <a:off x="8046720" y="4526280"/>
            <a:ext cx="3383280" cy="914400"/>
          </a:xfrm>
          <a:prstGeom prst="rect">
            <a:avLst/>
          </a:prstGeom>
          <a:noFill/>
          <a:ln/>
        </p:spPr>
        <p:txBody>
          <a:bodyPr wrap="square" lIns="0" tIns="0" rIns="0" bIns="0" rtlCol="0" anchor="ctr"/>
          <a:lstStyle/>
          <a:p>
            <a:pPr indent="0" marL="0">
              <a:buNone/>
            </a:pPr>
            <a:r>
              <a:rPr lang="en-US" sz="1800" dirty="0">
                <a:solidFill>
                  <a:srgbClr val="1B2433"/>
                </a:solidFill>
              </a:rPr>
              <a:t>grade not set yet — NULL</a:t>
            </a:r>
            <a:endParaRPr lang="en-US" sz="1800" dirty="0"/>
          </a:p>
        </p:txBody>
      </p:sp>
      <p:sp>
        <p:nvSpPr>
          <p:cNvPr id="13" name="caption"/>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300" i="1" dirty="0">
                <a:solidFill>
                  <a:srgbClr val="5B6B78"/>
                </a:solidFill>
              </a:rPr>
              <a:t>University database from Labs 4–5: enrollments joined with students and courses.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Aggregates over the whole table</a:t>
            </a:r>
            <a:endParaRPr lang="en-US" sz="3200" dirty="0"/>
          </a:p>
        </p:txBody>
      </p:sp>
      <p:sp>
        <p:nvSpPr>
          <p:cNvPr id="3" name="whole panel"/>
          <p:cNvSpPr/>
          <p:nvPr/>
        </p:nvSpPr>
        <p:spPr>
          <a:xfrm>
            <a:off x="548640" y="1371600"/>
            <a:ext cx="5669280" cy="2514600"/>
          </a:xfrm>
          <a:prstGeom prst="roundRect">
            <a:avLst>
              <a:gd name="adj" fmla="val 4364"/>
            </a:avLst>
          </a:prstGeom>
          <a:solidFill>
            <a:srgbClr val="1B2433"/>
          </a:solidFill>
          <a:ln/>
        </p:spPr>
      </p:sp>
      <p:sp>
        <p:nvSpPr>
          <p:cNvPr id="4" name="whole code"/>
          <p:cNvSpPr txBox="1"/>
          <p:nvPr/>
        </p:nvSpPr>
        <p:spPr>
          <a:xfrm>
            <a:off x="777240" y="1554480"/>
            <a:ext cx="5212080" cy="2148840"/>
          </a:xfrm>
          <a:prstGeom prst="rect">
            <a:avLst/>
          </a:prstGeom>
          <a:noFill/>
          <a:ln/>
        </p:spPr>
        <p:txBody>
          <a:bodyPr wrap="square" lIns="0" tIns="0" rIns="0" bIns="0" rtlCol="0" anchor="t"/>
          <a:lstStyle/>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SELECT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COUNT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rows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COUNT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graded</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SUM</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total</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ROUND</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AVG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B8E0A8"/>
                </a:solidFill>
                <a:latin typeface="Courier New" pitchFamily="34" charset="0"/>
                <a:ea typeface="Courier New" pitchFamily="34" charset="-122"/>
                <a:cs typeface="Courier New" pitchFamily="34" charset="-120"/>
              </a:rPr>
              <a:t>1</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avg_grade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MIN</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lowest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MAX</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highest</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FROM</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enrollments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p:txBody>
      </p:sp>
      <p:graphicFrame>
        <p:nvGraphicFramePr>
          <p:cNvPr id="6" name="whole result"/>
          <p:cNvGraphicFramePr>
            <a:graphicFrameLocks noGrp="1"/>
          </p:cNvGraphicFramePr>
          <p:nvPr>
            <p:extLst>
              <p:ext uri="{D42A27DB-BD31-4B8C-83A1-F6EECF244321}">
                <p14:modId xmlns:p14="http://schemas.microsoft.com/office/powerpoint/2010/main" val="1579011935"/>
              </p:ext>
            </p:extLst>
          </p:nvPr>
        </p:nvGraphicFramePr>
        <p:xfrm>
          <a:off x="6492240" y="1371600"/>
          <a:ext cx="5148072" cy="914400"/>
        </p:xfrm>
        <a:graphic>
          <a:graphicData uri="http://schemas.openxmlformats.org/drawingml/2006/table">
            <a:tbl>
              <a:tblPr/>
              <a:tblGrid>
                <a:gridCol w="685800"/>
                <a:gridCol w="868680"/>
                <a:gridCol w="731520"/>
                <a:gridCol w="1097280"/>
                <a:gridCol w="868680"/>
                <a:gridCol w="896112"/>
              </a:tblGrid>
              <a:tr h="329184">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rows</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graded</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avg_grade</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lowest</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highest</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r>
              <a:tr h="329184">
                <a:tc>
                  <a:txBody>
                    <a:bodyPr/>
                    <a:lstStyle/>
                    <a:p>
                      <a:pPr algn="r" indent="0" marL="0">
                        <a:buNone/>
                      </a:pPr>
                      <a:r>
                        <a:rPr lang="en-US" sz="1300" dirty="0">
                          <a:solidFill>
                            <a:srgbClr val="1B2433"/>
                          </a:solidFill>
                        </a:rPr>
                        <a:t>11</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10</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793</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79.3</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48</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433"/>
                          </a:solidFill>
                        </a:rPr>
                        <a:t>94</a:t>
                      </a:r>
                      <a:endParaRPr lang="en-US" sz="13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bl>
          </a:graphicData>
        </a:graphic>
      </p:graphicFrame>
      <p:sp>
        <p:nvSpPr>
          <p:cNvPr id="6" name="whole point"/>
          <p:cNvSpPr txBox="1"/>
          <p:nvPr/>
        </p:nvSpPr>
        <p:spPr>
          <a:xfrm>
            <a:off x="6492240" y="2514600"/>
            <a:ext cx="5120640" cy="1463040"/>
          </a:xfrm>
          <a:prstGeom prst="rect">
            <a:avLst/>
          </a:prstGeom>
          <a:noFill/>
          <a:ln/>
        </p:spPr>
        <p:txBody>
          <a:bodyPr wrap="square" lIns="0" tIns="0" rIns="0" bIns="0" rtlCol="0" anchor="t"/>
          <a:lstStyle/>
          <a:p>
            <a:pPr indent="0" marL="0">
              <a:spcAft>
                <a:spcPts val="1000"/>
              </a:spcAft>
              <a:buNone/>
            </a:pPr>
            <a:r>
              <a:rPr lang="en-US" sz="1600" b="1" dirty="0">
                <a:solidFill>
                  <a:srgbClr val="0E3B5C"/>
                </a:solidFill>
              </a:rPr>
              <a:t>No GROUP BY </a:t>
            </a:r>
            <a:pPr indent="0" marL="0">
              <a:spcAft>
                <a:spcPts val="1000"/>
              </a:spcAft>
              <a:buNone/>
            </a:pPr>
            <a:r>
              <a:rPr lang="en-US" sz="1600" dirty="0">
                <a:solidFill>
                  <a:srgbClr val="1B2433"/>
                </a:solidFill>
              </a:rPr>
              <a:t>→ the whole table is one group → exactly one result row.</a:t>
            </a:r>
            <a:endParaRPr lang="en-US" sz="1600" dirty="0"/>
          </a:p>
          <a:p>
            <a:pPr indent="0" marL="0">
              <a:spcAft>
                <a:spcPts val="1000"/>
              </a:spcAft>
              <a:buNone/>
            </a:pPr>
            <a:r>
              <a:rPr lang="en-US" sz="1600" b="1" dirty="0">
                <a:solidFill>
                  <a:srgbClr val="0E3B5C"/>
                </a:solidFill>
              </a:rPr>
              <a:t>COUNT(*) = 11 </a:t>
            </a:r>
            <a:pPr indent="0" marL="0">
              <a:spcAft>
                <a:spcPts val="1000"/>
              </a:spcAft>
              <a:buNone/>
            </a:pPr>
            <a:r>
              <a:rPr lang="en-US" sz="1600" dirty="0">
                <a:solidFill>
                  <a:srgbClr val="1B2433"/>
                </a:solidFill>
              </a:rPr>
              <a:t>but </a:t>
            </a:r>
            <a:pPr indent="0" marL="0">
              <a:spcAft>
                <a:spcPts val="1000"/>
              </a:spcAft>
              <a:buNone/>
            </a:pPr>
            <a:r>
              <a:rPr lang="en-US" sz="1600" b="1" dirty="0">
                <a:solidFill>
                  <a:srgbClr val="0E3B5C"/>
                </a:solidFill>
              </a:rPr>
              <a:t>COUNT(grade) = 10</a:t>
            </a:r>
            <a:pPr indent="0" marL="0">
              <a:spcAft>
                <a:spcPts val="1000"/>
              </a:spcAft>
              <a:buNone/>
            </a:pPr>
            <a:r>
              <a:rPr lang="en-US" sz="1600" dirty="0">
                <a:solidFill>
                  <a:srgbClr val="1B2433"/>
                </a:solidFill>
              </a:rPr>
              <a:t>: the NULL grade is not counted.</a:t>
            </a:r>
            <a:endParaRPr lang="en-US" sz="1600" dirty="0"/>
          </a:p>
        </p:txBody>
      </p:sp>
      <p:sp>
        <p:nvSpPr>
          <p:cNvPr id="7" name="mix card"/>
          <p:cNvSpPr/>
          <p:nvPr/>
        </p:nvSpPr>
        <p:spPr>
          <a:xfrm>
            <a:off x="548640" y="4343400"/>
            <a:ext cx="11094415" cy="1325880"/>
          </a:xfrm>
          <a:prstGeom prst="roundRect">
            <a:avLst>
              <a:gd name="adj" fmla="val 8276"/>
            </a:avLst>
          </a:prstGeom>
          <a:solidFill>
            <a:srgbClr val="EEF3F7"/>
          </a:solidFill>
          <a:ln/>
          <a:effectLst>
            <a:outerShdw sx="100000" sy="100000" kx="0" ky="0" algn="bl" rotWithShape="0" blurRad="76200" dist="25400" dir="5400000">
              <a:srgbClr val="0E3B5C">
                <a:alpha val="12000"/>
              </a:srgbClr>
            </a:outerShdw>
          </a:effectLst>
        </p:spPr>
      </p:sp>
      <p:sp>
        <p:nvSpPr>
          <p:cNvPr id="8" name="mix text"/>
          <p:cNvSpPr txBox="1"/>
          <p:nvPr/>
        </p:nvSpPr>
        <p:spPr>
          <a:xfrm>
            <a:off x="822960" y="4526280"/>
            <a:ext cx="10545775" cy="1005840"/>
          </a:xfrm>
          <a:prstGeom prst="rect">
            <a:avLst/>
          </a:prstGeom>
          <a:noFill/>
          <a:ln/>
        </p:spPr>
        <p:txBody>
          <a:bodyPr wrap="square" lIns="0" tIns="0" rIns="0" bIns="0" rtlCol="0" anchor="ctr"/>
          <a:lstStyle/>
          <a:p>
            <a:pPr indent="0" marL="0">
              <a:buNone/>
            </a:pPr>
            <a:r>
              <a:rPr lang="en-US" sz="1600" dirty="0">
                <a:solidFill>
                  <a:srgbClr val="1B2433"/>
                </a:solidFill>
              </a:rPr>
              <a:t>Aggregates can be combined with arithmetic and other functions: </a:t>
            </a:r>
            <a:pPr indent="0" marL="0">
              <a:buNone/>
            </a:pPr>
            <a:r>
              <a:rPr lang="en-US" sz="1600" b="1" dirty="0">
                <a:solidFill>
                  <a:srgbClr val="0E3B5C"/>
                </a:solidFill>
                <a:latin typeface="Courier New" pitchFamily="34" charset="0"/>
                <a:ea typeface="Courier New" pitchFamily="34" charset="-122"/>
                <a:cs typeface="Courier New" pitchFamily="34" charset="-120"/>
              </a:rPr>
              <a:t>ROUND(AVG(grade), 1)</a:t>
            </a:r>
            <a:pPr indent="0" marL="0">
              <a:buNone/>
            </a:pPr>
            <a:r>
              <a:rPr lang="en-US" sz="1600" dirty="0">
                <a:solidFill>
                  <a:srgbClr val="1B2433"/>
                </a:solidFill>
              </a:rPr>
              <a:t> rounds the average 79.3, and </a:t>
            </a:r>
            <a:pPr indent="0" marL="0">
              <a:buNone/>
            </a:pPr>
            <a:r>
              <a:rPr lang="en-US" sz="1600" b="1" dirty="0">
                <a:solidFill>
                  <a:srgbClr val="0E3B5C"/>
                </a:solidFill>
                <a:latin typeface="Courier New" pitchFamily="34" charset="0"/>
                <a:ea typeface="Courier New" pitchFamily="34" charset="-122"/>
                <a:cs typeface="Courier New" pitchFamily="34" charset="-120"/>
              </a:rPr>
              <a:t>MAX(grade) - MIN(grade)</a:t>
            </a:r>
            <a:pPr indent="0" marL="0">
              <a:buNone/>
            </a:pPr>
            <a:r>
              <a:rPr lang="en-US" sz="1600" dirty="0">
                <a:solidFill>
                  <a:srgbClr val="1B2433"/>
                </a:solidFill>
              </a:rPr>
              <a:t> gives the spread of grades (46).</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COUNT variants and NULL values</a:t>
            </a:r>
            <a:endParaRPr lang="en-US" sz="3200" dirty="0"/>
          </a:p>
        </p:txBody>
      </p:sp>
      <p:sp>
        <p:nvSpPr>
          <p:cNvPr id="3" name="count card 0"/>
          <p:cNvSpPr/>
          <p:nvPr/>
        </p:nvSpPr>
        <p:spPr>
          <a:xfrm>
            <a:off x="548640" y="1417320"/>
            <a:ext cx="3515258" cy="1920240"/>
          </a:xfrm>
          <a:prstGeom prst="roundRect">
            <a:avLst>
              <a:gd name="adj" fmla="val 5714"/>
            </a:avLst>
          </a:prstGeom>
          <a:solidFill>
            <a:srgbClr val="EEF3F7"/>
          </a:solidFill>
          <a:ln/>
          <a:effectLst>
            <a:outerShdw sx="100000" sy="100000" kx="0" ky="0" algn="bl" rotWithShape="0" blurRad="76200" dist="25400" dir="5400000">
              <a:srgbClr val="0E3B5C">
                <a:alpha val="12000"/>
              </a:srgbClr>
            </a:outerShdw>
          </a:effectLst>
        </p:spPr>
      </p:sp>
      <p:sp>
        <p:nvSpPr>
          <p:cNvPr id="4" name="count q 0"/>
          <p:cNvSpPr txBox="1"/>
          <p:nvPr/>
        </p:nvSpPr>
        <p:spPr>
          <a:xfrm>
            <a:off x="777240" y="1600200"/>
            <a:ext cx="3058058" cy="365760"/>
          </a:xfrm>
          <a:prstGeom prst="rect">
            <a:avLst/>
          </a:prstGeom>
          <a:noFill/>
          <a:ln/>
        </p:spPr>
        <p:txBody>
          <a:bodyPr wrap="square" lIns="0" tIns="0" rIns="0" bIns="0" rtlCol="0" anchor="t"/>
          <a:lstStyle/>
          <a:p>
            <a:pPr indent="0" marL="0">
              <a:buNone/>
            </a:pPr>
            <a:r>
              <a:rPr lang="en-US" sz="1500" b="1" dirty="0">
                <a:solidFill>
                  <a:srgbClr val="0E3B5C"/>
                </a:solidFill>
                <a:latin typeface="Courier New" pitchFamily="34" charset="0"/>
                <a:ea typeface="Courier New" pitchFamily="34" charset="-122"/>
                <a:cs typeface="Courier New" pitchFamily="34" charset="-120"/>
              </a:rPr>
              <a:t>COUNT(*)</a:t>
            </a:r>
            <a:endParaRPr lang="en-US" sz="1500" dirty="0"/>
          </a:p>
        </p:txBody>
      </p:sp>
      <p:sp>
        <p:nvSpPr>
          <p:cNvPr id="5" name="count v 0"/>
          <p:cNvSpPr txBox="1"/>
          <p:nvPr/>
        </p:nvSpPr>
        <p:spPr>
          <a:xfrm>
            <a:off x="777240" y="2011680"/>
            <a:ext cx="3058058" cy="777240"/>
          </a:xfrm>
          <a:prstGeom prst="rect">
            <a:avLst/>
          </a:prstGeom>
          <a:noFill/>
          <a:ln/>
        </p:spPr>
        <p:txBody>
          <a:bodyPr wrap="square" lIns="0" tIns="0" rIns="0" bIns="0" rtlCol="0" anchor="t"/>
          <a:lstStyle/>
          <a:p>
            <a:pPr indent="0" marL="0">
              <a:buNone/>
            </a:pPr>
            <a:r>
              <a:rPr lang="en-US" sz="4800" b="1" dirty="0">
                <a:solidFill>
                  <a:srgbClr val="1F8A99"/>
                </a:solidFill>
              </a:rPr>
              <a:t>11</a:t>
            </a:r>
            <a:endParaRPr lang="en-US" sz="4800" dirty="0"/>
          </a:p>
        </p:txBody>
      </p:sp>
      <p:sp>
        <p:nvSpPr>
          <p:cNvPr id="6" name="count d 0"/>
          <p:cNvSpPr txBox="1"/>
          <p:nvPr/>
        </p:nvSpPr>
        <p:spPr>
          <a:xfrm>
            <a:off x="777240" y="2834640"/>
            <a:ext cx="3058058" cy="365760"/>
          </a:xfrm>
          <a:prstGeom prst="rect">
            <a:avLst/>
          </a:prstGeom>
          <a:noFill/>
          <a:ln/>
        </p:spPr>
        <p:txBody>
          <a:bodyPr wrap="square" lIns="0" tIns="0" rIns="0" bIns="0" rtlCol="0" anchor="t"/>
          <a:lstStyle/>
          <a:p>
            <a:pPr indent="0" marL="0">
              <a:buNone/>
            </a:pPr>
            <a:r>
              <a:rPr lang="en-US" sz="1500" dirty="0">
                <a:solidFill>
                  <a:srgbClr val="1B2433"/>
                </a:solidFill>
              </a:rPr>
              <a:t>every row</a:t>
            </a:r>
            <a:endParaRPr lang="en-US" sz="1500" dirty="0"/>
          </a:p>
        </p:txBody>
      </p:sp>
      <p:sp>
        <p:nvSpPr>
          <p:cNvPr id="7" name="count card 1"/>
          <p:cNvSpPr/>
          <p:nvPr/>
        </p:nvSpPr>
        <p:spPr>
          <a:xfrm>
            <a:off x="4338218" y="1417320"/>
            <a:ext cx="3515258" cy="1920240"/>
          </a:xfrm>
          <a:prstGeom prst="roundRect">
            <a:avLst>
              <a:gd name="adj" fmla="val 5714"/>
            </a:avLst>
          </a:prstGeom>
          <a:solidFill>
            <a:srgbClr val="EEF3F7"/>
          </a:solidFill>
          <a:ln/>
          <a:effectLst>
            <a:outerShdw sx="100000" sy="100000" kx="0" ky="0" algn="bl" rotWithShape="0" blurRad="76200" dist="25400" dir="5400000">
              <a:srgbClr val="0E3B5C">
                <a:alpha val="12000"/>
              </a:srgbClr>
            </a:outerShdw>
          </a:effectLst>
        </p:spPr>
      </p:sp>
      <p:sp>
        <p:nvSpPr>
          <p:cNvPr id="8" name="count q 1"/>
          <p:cNvSpPr txBox="1"/>
          <p:nvPr/>
        </p:nvSpPr>
        <p:spPr>
          <a:xfrm>
            <a:off x="4566818" y="1600200"/>
            <a:ext cx="3058058" cy="365760"/>
          </a:xfrm>
          <a:prstGeom prst="rect">
            <a:avLst/>
          </a:prstGeom>
          <a:noFill/>
          <a:ln/>
        </p:spPr>
        <p:txBody>
          <a:bodyPr wrap="square" lIns="0" tIns="0" rIns="0" bIns="0" rtlCol="0" anchor="t"/>
          <a:lstStyle/>
          <a:p>
            <a:pPr indent="0" marL="0">
              <a:buNone/>
            </a:pPr>
            <a:r>
              <a:rPr lang="en-US" sz="1500" b="1" dirty="0">
                <a:solidFill>
                  <a:srgbClr val="0E3B5C"/>
                </a:solidFill>
                <a:latin typeface="Courier New" pitchFamily="34" charset="0"/>
                <a:ea typeface="Courier New" pitchFamily="34" charset="-122"/>
                <a:cs typeface="Courier New" pitchFamily="34" charset="-120"/>
              </a:rPr>
              <a:t>COUNT(grade)</a:t>
            </a:r>
            <a:endParaRPr lang="en-US" sz="1500" dirty="0"/>
          </a:p>
        </p:txBody>
      </p:sp>
      <p:sp>
        <p:nvSpPr>
          <p:cNvPr id="9" name="count v 1"/>
          <p:cNvSpPr txBox="1"/>
          <p:nvPr/>
        </p:nvSpPr>
        <p:spPr>
          <a:xfrm>
            <a:off x="4566818" y="2011680"/>
            <a:ext cx="3058058" cy="777240"/>
          </a:xfrm>
          <a:prstGeom prst="rect">
            <a:avLst/>
          </a:prstGeom>
          <a:noFill/>
          <a:ln/>
        </p:spPr>
        <p:txBody>
          <a:bodyPr wrap="square" lIns="0" tIns="0" rIns="0" bIns="0" rtlCol="0" anchor="t"/>
          <a:lstStyle/>
          <a:p>
            <a:pPr indent="0" marL="0">
              <a:buNone/>
            </a:pPr>
            <a:r>
              <a:rPr lang="en-US" sz="4800" b="1" dirty="0">
                <a:solidFill>
                  <a:srgbClr val="1F8A99"/>
                </a:solidFill>
              </a:rPr>
              <a:t>10</a:t>
            </a:r>
            <a:endParaRPr lang="en-US" sz="4800" dirty="0"/>
          </a:p>
        </p:txBody>
      </p:sp>
      <p:sp>
        <p:nvSpPr>
          <p:cNvPr id="10" name="count d 1"/>
          <p:cNvSpPr txBox="1"/>
          <p:nvPr/>
        </p:nvSpPr>
        <p:spPr>
          <a:xfrm>
            <a:off x="4566818" y="2834640"/>
            <a:ext cx="3058058" cy="365760"/>
          </a:xfrm>
          <a:prstGeom prst="rect">
            <a:avLst/>
          </a:prstGeom>
          <a:noFill/>
          <a:ln/>
        </p:spPr>
        <p:txBody>
          <a:bodyPr wrap="square" lIns="0" tIns="0" rIns="0" bIns="0" rtlCol="0" anchor="t"/>
          <a:lstStyle/>
          <a:p>
            <a:pPr indent="0" marL="0">
              <a:buNone/>
            </a:pPr>
            <a:r>
              <a:rPr lang="en-US" sz="1500" dirty="0">
                <a:solidFill>
                  <a:srgbClr val="1B2433"/>
                </a:solidFill>
              </a:rPr>
              <a:t>rows where grade is not NULL</a:t>
            </a:r>
            <a:endParaRPr lang="en-US" sz="1500" dirty="0"/>
          </a:p>
        </p:txBody>
      </p:sp>
      <p:sp>
        <p:nvSpPr>
          <p:cNvPr id="11" name="count card 2"/>
          <p:cNvSpPr/>
          <p:nvPr/>
        </p:nvSpPr>
        <p:spPr>
          <a:xfrm>
            <a:off x="8127797" y="1417320"/>
            <a:ext cx="3515258" cy="1920240"/>
          </a:xfrm>
          <a:prstGeom prst="roundRect">
            <a:avLst>
              <a:gd name="adj" fmla="val 5714"/>
            </a:avLst>
          </a:prstGeom>
          <a:solidFill>
            <a:srgbClr val="EEF3F7"/>
          </a:solidFill>
          <a:ln/>
          <a:effectLst>
            <a:outerShdw sx="100000" sy="100000" kx="0" ky="0" algn="bl" rotWithShape="0" blurRad="76200" dist="25400" dir="5400000">
              <a:srgbClr val="0E3B5C">
                <a:alpha val="12000"/>
              </a:srgbClr>
            </a:outerShdw>
          </a:effectLst>
        </p:spPr>
      </p:sp>
      <p:sp>
        <p:nvSpPr>
          <p:cNvPr id="12" name="count q 2"/>
          <p:cNvSpPr txBox="1"/>
          <p:nvPr/>
        </p:nvSpPr>
        <p:spPr>
          <a:xfrm>
            <a:off x="8356397" y="1600200"/>
            <a:ext cx="3058058" cy="365760"/>
          </a:xfrm>
          <a:prstGeom prst="rect">
            <a:avLst/>
          </a:prstGeom>
          <a:noFill/>
          <a:ln/>
        </p:spPr>
        <p:txBody>
          <a:bodyPr wrap="square" lIns="0" tIns="0" rIns="0" bIns="0" rtlCol="0" anchor="t"/>
          <a:lstStyle/>
          <a:p>
            <a:pPr indent="0" marL="0">
              <a:buNone/>
            </a:pPr>
            <a:r>
              <a:rPr lang="en-US" sz="1500" b="1" dirty="0">
                <a:solidFill>
                  <a:srgbClr val="0E3B5C"/>
                </a:solidFill>
                <a:latin typeface="Courier New" pitchFamily="34" charset="0"/>
                <a:ea typeface="Courier New" pitchFamily="34" charset="-122"/>
                <a:cs typeface="Courier New" pitchFamily="34" charset="-120"/>
              </a:rPr>
              <a:t>COUNT(DISTINCT course_id)</a:t>
            </a:r>
            <a:endParaRPr lang="en-US" sz="1500" dirty="0"/>
          </a:p>
        </p:txBody>
      </p:sp>
      <p:sp>
        <p:nvSpPr>
          <p:cNvPr id="13" name="count v 2"/>
          <p:cNvSpPr txBox="1"/>
          <p:nvPr/>
        </p:nvSpPr>
        <p:spPr>
          <a:xfrm>
            <a:off x="8356397" y="2011680"/>
            <a:ext cx="3058058" cy="777240"/>
          </a:xfrm>
          <a:prstGeom prst="rect">
            <a:avLst/>
          </a:prstGeom>
          <a:noFill/>
          <a:ln/>
        </p:spPr>
        <p:txBody>
          <a:bodyPr wrap="square" lIns="0" tIns="0" rIns="0" bIns="0" rtlCol="0" anchor="t"/>
          <a:lstStyle/>
          <a:p>
            <a:pPr indent="0" marL="0">
              <a:buNone/>
            </a:pPr>
            <a:r>
              <a:rPr lang="en-US" sz="4800" b="1" dirty="0">
                <a:solidFill>
                  <a:srgbClr val="1F8A99"/>
                </a:solidFill>
              </a:rPr>
              <a:t>4</a:t>
            </a:r>
            <a:endParaRPr lang="en-US" sz="4800" dirty="0"/>
          </a:p>
        </p:txBody>
      </p:sp>
      <p:sp>
        <p:nvSpPr>
          <p:cNvPr id="14" name="count d 2"/>
          <p:cNvSpPr txBox="1"/>
          <p:nvPr/>
        </p:nvSpPr>
        <p:spPr>
          <a:xfrm>
            <a:off x="8356397" y="2834640"/>
            <a:ext cx="3058058" cy="365760"/>
          </a:xfrm>
          <a:prstGeom prst="rect">
            <a:avLst/>
          </a:prstGeom>
          <a:noFill/>
          <a:ln/>
        </p:spPr>
        <p:txBody>
          <a:bodyPr wrap="square" lIns="0" tIns="0" rIns="0" bIns="0" rtlCol="0" anchor="t"/>
          <a:lstStyle/>
          <a:p>
            <a:pPr indent="0" marL="0">
              <a:buNone/>
            </a:pPr>
            <a:r>
              <a:rPr lang="en-US" sz="1500" dirty="0">
                <a:solidFill>
                  <a:srgbClr val="1B2433"/>
                </a:solidFill>
              </a:rPr>
              <a:t>different values only</a:t>
            </a:r>
            <a:endParaRPr lang="en-US" sz="1500" dirty="0"/>
          </a:p>
        </p:txBody>
      </p:sp>
      <p:sp>
        <p:nvSpPr>
          <p:cNvPr id="15" name="avg null card"/>
          <p:cNvSpPr/>
          <p:nvPr/>
        </p:nvSpPr>
        <p:spPr>
          <a:xfrm>
            <a:off x="548640" y="3611880"/>
            <a:ext cx="5410048" cy="2240280"/>
          </a:xfrm>
          <a:prstGeom prst="roundRect">
            <a:avLst>
              <a:gd name="adj" fmla="val 4898"/>
            </a:avLst>
          </a:prstGeom>
          <a:solidFill>
            <a:srgbClr val="FFF6E6"/>
          </a:solidFill>
          <a:ln/>
          <a:effectLst>
            <a:outerShdw sx="100000" sy="100000" kx="0" ky="0" algn="bl" rotWithShape="0" blurRad="76200" dist="25400" dir="5400000">
              <a:srgbClr val="0E3B5C">
                <a:alpha val="12000"/>
              </a:srgbClr>
            </a:outerShdw>
          </a:effectLst>
        </p:spPr>
      </p:sp>
      <p:sp>
        <p:nvSpPr>
          <p:cNvPr id="16" name="avg null title"/>
          <p:cNvSpPr txBox="1"/>
          <p:nvPr/>
        </p:nvSpPr>
        <p:spPr>
          <a:xfrm>
            <a:off x="822960" y="3749040"/>
            <a:ext cx="4861408" cy="411480"/>
          </a:xfrm>
          <a:prstGeom prst="rect">
            <a:avLst/>
          </a:prstGeom>
          <a:noFill/>
          <a:ln/>
        </p:spPr>
        <p:txBody>
          <a:bodyPr wrap="square" lIns="0" tIns="0" rIns="0" bIns="0" rtlCol="0" anchor="t"/>
          <a:lstStyle/>
          <a:p>
            <a:pPr indent="0" marL="0">
              <a:buNone/>
            </a:pPr>
            <a:r>
              <a:rPr lang="en-US" sz="1700" b="1" dirty="0">
                <a:solidFill>
                  <a:srgbClr val="1B2433"/>
                </a:solidFill>
              </a:rPr>
              <a:t>AVG skips NULL — it does not treat it as 0</a:t>
            </a:r>
            <a:endParaRPr lang="en-US" sz="1700" dirty="0"/>
          </a:p>
        </p:txBody>
      </p:sp>
      <p:sp>
        <p:nvSpPr>
          <p:cNvPr id="17" name="avg null body"/>
          <p:cNvSpPr txBox="1"/>
          <p:nvPr/>
        </p:nvSpPr>
        <p:spPr>
          <a:xfrm>
            <a:off x="822960" y="4251960"/>
            <a:ext cx="4861408" cy="1463040"/>
          </a:xfrm>
          <a:prstGeom prst="rect">
            <a:avLst/>
          </a:prstGeom>
          <a:noFill/>
          <a:ln/>
        </p:spPr>
        <p:txBody>
          <a:bodyPr wrap="square" lIns="0" tIns="0" rIns="0" bIns="0" rtlCol="0" anchor="t"/>
          <a:lstStyle/>
          <a:p>
            <a:pPr indent="0" marL="0">
              <a:spcAft>
                <a:spcPts val="800"/>
              </a:spcAft>
              <a:buNone/>
            </a:pPr>
            <a:r>
              <a:rPr lang="en-US" sz="1600" b="1" dirty="0">
                <a:solidFill>
                  <a:srgbClr val="0E3B5C"/>
                </a:solidFill>
                <a:latin typeface="Courier New" pitchFamily="34" charset="0"/>
                <a:ea typeface="Courier New" pitchFamily="34" charset="-122"/>
                <a:cs typeface="Courier New" pitchFamily="34" charset="-120"/>
              </a:rPr>
              <a:t>AVG(grade)</a:t>
            </a:r>
            <a:pPr indent="0" marL="0">
              <a:spcAft>
                <a:spcPts val="800"/>
              </a:spcAft>
              <a:buNone/>
            </a:pPr>
            <a:r>
              <a:rPr lang="en-US" sz="1600" dirty="0">
                <a:solidFill>
                  <a:srgbClr val="1B2433"/>
                </a:solidFill>
              </a:rPr>
              <a:t>  =  79.3   (793 / 10)</a:t>
            </a:r>
            <a:endParaRPr lang="en-US" sz="1600" dirty="0"/>
          </a:p>
          <a:p>
            <a:pPr indent="0" marL="0">
              <a:spcAft>
                <a:spcPts val="800"/>
              </a:spcAft>
              <a:buNone/>
            </a:pPr>
            <a:r>
              <a:rPr lang="en-US" sz="1600" b="1" dirty="0">
                <a:solidFill>
                  <a:srgbClr val="0E3B5C"/>
                </a:solidFill>
                <a:latin typeface="Courier New" pitchFamily="34" charset="0"/>
                <a:ea typeface="Courier New" pitchFamily="34" charset="-122"/>
                <a:cs typeface="Courier New" pitchFamily="34" charset="-120"/>
              </a:rPr>
              <a:t>AVG(COALESCE(grade, 0))</a:t>
            </a:r>
            <a:pPr indent="0" marL="0">
              <a:spcAft>
                <a:spcPts val="800"/>
              </a:spcAft>
              <a:buNone/>
            </a:pPr>
            <a:r>
              <a:rPr lang="en-US" sz="1600" dirty="0">
                <a:solidFill>
                  <a:srgbClr val="1B2433"/>
                </a:solidFill>
              </a:rPr>
              <a:t>  =  72.1   (793 / 11)</a:t>
            </a:r>
            <a:endParaRPr lang="en-US" sz="1600" dirty="0"/>
          </a:p>
          <a:p>
            <a:pPr indent="0" marL="0">
              <a:spcAft>
                <a:spcPts val="800"/>
              </a:spcAft>
              <a:buNone/>
            </a:pPr>
            <a:r>
              <a:rPr lang="en-US" sz="1600" i="1" dirty="0">
                <a:solidFill>
                  <a:srgbClr val="5B6B78"/>
                </a:solidFill>
              </a:rPr>
              <a:t>Decide which one the report actually needs.</a:t>
            </a:r>
            <a:endParaRPr lang="en-US" sz="1600" dirty="0"/>
          </a:p>
        </p:txBody>
      </p:sp>
      <p:sp>
        <p:nvSpPr>
          <p:cNvPr id="18" name="empty card"/>
          <p:cNvSpPr/>
          <p:nvPr/>
        </p:nvSpPr>
        <p:spPr>
          <a:xfrm>
            <a:off x="6233008" y="3611880"/>
            <a:ext cx="5410048" cy="2240280"/>
          </a:xfrm>
          <a:prstGeom prst="roundRect">
            <a:avLst>
              <a:gd name="adj" fmla="val 4898"/>
            </a:avLst>
          </a:prstGeom>
          <a:solidFill>
            <a:srgbClr val="EEF3F7"/>
          </a:solidFill>
          <a:ln/>
          <a:effectLst>
            <a:outerShdw sx="100000" sy="100000" kx="0" ky="0" algn="bl" rotWithShape="0" blurRad="76200" dist="25400" dir="5400000">
              <a:srgbClr val="0E3B5C">
                <a:alpha val="12000"/>
              </a:srgbClr>
            </a:outerShdw>
          </a:effectLst>
        </p:spPr>
      </p:sp>
      <p:sp>
        <p:nvSpPr>
          <p:cNvPr id="19" name="empty title"/>
          <p:cNvSpPr txBox="1"/>
          <p:nvPr/>
        </p:nvSpPr>
        <p:spPr>
          <a:xfrm>
            <a:off x="6507328" y="3749040"/>
            <a:ext cx="4861408" cy="411480"/>
          </a:xfrm>
          <a:prstGeom prst="rect">
            <a:avLst/>
          </a:prstGeom>
          <a:noFill/>
          <a:ln/>
        </p:spPr>
        <p:txBody>
          <a:bodyPr wrap="square" lIns="0" tIns="0" rIns="0" bIns="0" rtlCol="0" anchor="t"/>
          <a:lstStyle/>
          <a:p>
            <a:pPr indent="0" marL="0">
              <a:buNone/>
            </a:pPr>
            <a:r>
              <a:rPr lang="en-US" sz="1700" b="1" dirty="0">
                <a:solidFill>
                  <a:srgbClr val="1B2433"/>
                </a:solidFill>
              </a:rPr>
              <a:t>When no rows match</a:t>
            </a:r>
            <a:endParaRPr lang="en-US" sz="1700" dirty="0"/>
          </a:p>
        </p:txBody>
      </p:sp>
      <p:sp>
        <p:nvSpPr>
          <p:cNvPr id="20" name="empty body"/>
          <p:cNvSpPr txBox="1"/>
          <p:nvPr/>
        </p:nvSpPr>
        <p:spPr>
          <a:xfrm>
            <a:off x="6507328" y="4251960"/>
            <a:ext cx="4861408" cy="1463040"/>
          </a:xfrm>
          <a:prstGeom prst="rect">
            <a:avLst/>
          </a:prstGeom>
          <a:noFill/>
          <a:ln/>
        </p:spPr>
        <p:txBody>
          <a:bodyPr wrap="square" lIns="0" tIns="0" rIns="0" bIns="0" rtlCol="0" anchor="t"/>
          <a:lstStyle/>
          <a:p>
            <a:pPr indent="0" marL="0">
              <a:spcAft>
                <a:spcPts val="800"/>
              </a:spcAft>
              <a:buNone/>
            </a:pPr>
            <a:r>
              <a:rPr lang="en-US" sz="1600" b="1" dirty="0">
                <a:solidFill>
                  <a:srgbClr val="0E3B5C"/>
                </a:solidFill>
                <a:latin typeface="Courier New" pitchFamily="34" charset="0"/>
                <a:ea typeface="Courier New" pitchFamily="34" charset="-122"/>
                <a:cs typeface="Courier New" pitchFamily="34" charset="-120"/>
              </a:rPr>
              <a:t>... WHERE grade &gt; 100</a:t>
            </a:r>
            <a:endParaRPr lang="en-US" sz="1600" dirty="0"/>
          </a:p>
          <a:p>
            <a:pPr indent="0" marL="0">
              <a:spcAft>
                <a:spcPts val="800"/>
              </a:spcAft>
              <a:buNone/>
            </a:pPr>
            <a:r>
              <a:rPr lang="en-US" sz="1600" dirty="0">
                <a:solidFill>
                  <a:srgbClr val="1B2433"/>
                </a:solidFill>
              </a:rPr>
              <a:t>COUNT(*) returns 0</a:t>
            </a:r>
            <a:endParaRPr lang="en-US" sz="1600" dirty="0"/>
          </a:p>
          <a:p>
            <a:pPr indent="0" marL="0">
              <a:spcAft>
                <a:spcPts val="800"/>
              </a:spcAft>
              <a:buNone/>
            </a:pPr>
            <a:r>
              <a:rPr lang="en-US" sz="1600" dirty="0">
                <a:solidFill>
                  <a:srgbClr val="1B2433"/>
                </a:solidFill>
              </a:rPr>
              <a:t>SUM(grade) and AVG(grade) return NULL, not 0</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GROUP BY: one result row per group</a:t>
            </a:r>
            <a:endParaRPr lang="en-US" sz="3200" dirty="0"/>
          </a:p>
        </p:txBody>
      </p:sp>
      <p:sp>
        <p:nvSpPr>
          <p:cNvPr id="3" name="left head"/>
          <p:cNvSpPr txBox="1"/>
          <p:nvPr/>
        </p:nvSpPr>
        <p:spPr>
          <a:xfrm>
            <a:off x="548640" y="1325880"/>
            <a:ext cx="6035040" cy="320040"/>
          </a:xfrm>
          <a:prstGeom prst="rect">
            <a:avLst/>
          </a:prstGeom>
          <a:noFill/>
          <a:ln/>
        </p:spPr>
        <p:txBody>
          <a:bodyPr wrap="square" lIns="0" tIns="0" rIns="0" bIns="0" rtlCol="0" anchor="t"/>
          <a:lstStyle/>
          <a:p>
            <a:pPr indent="0" marL="0">
              <a:buNone/>
            </a:pPr>
            <a:r>
              <a:rPr lang="en-US" sz="1400" b="1" dirty="0">
                <a:solidFill>
                  <a:srgbClr val="5B6B78"/>
                </a:solidFill>
              </a:rPr>
              <a:t>Rows of enrollments, grouped by course</a:t>
            </a:r>
            <a:endParaRPr lang="en-US" sz="1400" dirty="0"/>
          </a:p>
        </p:txBody>
      </p:sp>
      <p:sp>
        <p:nvSpPr>
          <p:cNvPr id="4" name="right head"/>
          <p:cNvSpPr txBox="1"/>
          <p:nvPr/>
        </p:nvSpPr>
        <p:spPr>
          <a:xfrm>
            <a:off x="7589520" y="1325880"/>
            <a:ext cx="4023360" cy="320040"/>
          </a:xfrm>
          <a:prstGeom prst="rect">
            <a:avLst/>
          </a:prstGeom>
          <a:noFill/>
          <a:ln/>
        </p:spPr>
        <p:txBody>
          <a:bodyPr wrap="square" lIns="0" tIns="0" rIns="0" bIns="0" rtlCol="0" anchor="t"/>
          <a:lstStyle/>
          <a:p>
            <a:pPr indent="0" marL="0">
              <a:buNone/>
            </a:pPr>
            <a:r>
              <a:rPr lang="en-US" sz="1400" b="1" dirty="0">
                <a:solidFill>
                  <a:srgbClr val="5B6B78"/>
                </a:solidFill>
              </a:rPr>
              <a:t>Result: one row per group</a:t>
            </a:r>
            <a:endParaRPr lang="en-US" sz="1400" dirty="0"/>
          </a:p>
        </p:txBody>
      </p:sp>
      <p:sp>
        <p:nvSpPr>
          <p:cNvPr id="5" name="group band PROG1101"/>
          <p:cNvSpPr/>
          <p:nvPr/>
        </p:nvSpPr>
        <p:spPr>
          <a:xfrm>
            <a:off x="548640" y="1719072"/>
            <a:ext cx="6172200" cy="749808"/>
          </a:xfrm>
          <a:prstGeom prst="roundRect">
            <a:avLst>
              <a:gd name="adj" fmla="val 12195"/>
            </a:avLst>
          </a:prstGeom>
          <a:solidFill>
            <a:srgbClr val="D7EEF1"/>
          </a:solidFill>
          <a:ln/>
        </p:spPr>
      </p:sp>
      <p:sp>
        <p:nvSpPr>
          <p:cNvPr id="6" name="group code PROG1101"/>
          <p:cNvSpPr txBox="1"/>
          <p:nvPr/>
        </p:nvSpPr>
        <p:spPr>
          <a:xfrm>
            <a:off x="731520" y="1828800"/>
            <a:ext cx="1554480" cy="530352"/>
          </a:xfrm>
          <a:prstGeom prst="rect">
            <a:avLst/>
          </a:prstGeom>
          <a:noFill/>
          <a:ln/>
        </p:spPr>
        <p:txBody>
          <a:bodyPr wrap="square" lIns="0" tIns="0" rIns="0" bIns="0" rtlCol="0" anchor="ctr"/>
          <a:lstStyle/>
          <a:p>
            <a:pPr indent="0" marL="0">
              <a:buNone/>
            </a:pPr>
            <a:r>
              <a:rPr lang="en-US" sz="1600" b="1" dirty="0">
                <a:solidFill>
                  <a:srgbClr val="0E3B5C"/>
                </a:solidFill>
                <a:latin typeface="Courier New" pitchFamily="34" charset="0"/>
                <a:ea typeface="Courier New" pitchFamily="34" charset="-122"/>
                <a:cs typeface="Courier New" pitchFamily="34" charset="-120"/>
              </a:rPr>
              <a:t>PROG1101</a:t>
            </a:r>
            <a:endParaRPr lang="en-US" sz="1600" dirty="0"/>
          </a:p>
        </p:txBody>
      </p:sp>
      <p:sp>
        <p:nvSpPr>
          <p:cNvPr id="7" name="chip PROG1101 0"/>
          <p:cNvSpPr/>
          <p:nvPr/>
        </p:nvSpPr>
        <p:spPr>
          <a:xfrm>
            <a:off x="2377440" y="1828800"/>
            <a:ext cx="731520" cy="530352"/>
          </a:xfrm>
          <a:prstGeom prst="roundRect">
            <a:avLst>
              <a:gd name="adj" fmla="val 10345"/>
            </a:avLst>
          </a:prstGeom>
          <a:solidFill>
            <a:srgbClr val="FFFFFF"/>
          </a:solidFill>
          <a:ln w="9525">
            <a:solidFill>
              <a:srgbClr val="B6C6D2"/>
            </a:solidFill>
            <a:prstDash val="solid"/>
          </a:ln>
        </p:spPr>
      </p:sp>
      <p:sp>
        <p:nvSpPr>
          <p:cNvPr id="8" name="chipv PROG1101 0"/>
          <p:cNvSpPr txBox="1"/>
          <p:nvPr/>
        </p:nvSpPr>
        <p:spPr>
          <a:xfrm>
            <a:off x="2377440" y="1828800"/>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85</a:t>
            </a:r>
            <a:endParaRPr lang="en-US" sz="1600" dirty="0"/>
          </a:p>
        </p:txBody>
      </p:sp>
      <p:sp>
        <p:nvSpPr>
          <p:cNvPr id="9" name="chip PROG1101 1"/>
          <p:cNvSpPr/>
          <p:nvPr/>
        </p:nvSpPr>
        <p:spPr>
          <a:xfrm>
            <a:off x="3218688" y="1828800"/>
            <a:ext cx="731520" cy="530352"/>
          </a:xfrm>
          <a:prstGeom prst="roundRect">
            <a:avLst>
              <a:gd name="adj" fmla="val 10345"/>
            </a:avLst>
          </a:prstGeom>
          <a:solidFill>
            <a:srgbClr val="FFFFFF"/>
          </a:solidFill>
          <a:ln w="9525">
            <a:solidFill>
              <a:srgbClr val="B6C6D2"/>
            </a:solidFill>
            <a:prstDash val="solid"/>
          </a:ln>
        </p:spPr>
      </p:sp>
      <p:sp>
        <p:nvSpPr>
          <p:cNvPr id="10" name="chipv PROG1101 1"/>
          <p:cNvSpPr txBox="1"/>
          <p:nvPr/>
        </p:nvSpPr>
        <p:spPr>
          <a:xfrm>
            <a:off x="3218688" y="1828800"/>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94</a:t>
            </a:r>
            <a:endParaRPr lang="en-US" sz="1600" dirty="0"/>
          </a:p>
        </p:txBody>
      </p:sp>
      <p:sp>
        <p:nvSpPr>
          <p:cNvPr id="11" name="chip PROG1101 2"/>
          <p:cNvSpPr/>
          <p:nvPr/>
        </p:nvSpPr>
        <p:spPr>
          <a:xfrm>
            <a:off x="4059936" y="1828800"/>
            <a:ext cx="731520" cy="530352"/>
          </a:xfrm>
          <a:prstGeom prst="roundRect">
            <a:avLst>
              <a:gd name="adj" fmla="val 10345"/>
            </a:avLst>
          </a:prstGeom>
          <a:solidFill>
            <a:srgbClr val="FFFFFF"/>
          </a:solidFill>
          <a:ln w="9525">
            <a:solidFill>
              <a:srgbClr val="B6C6D2"/>
            </a:solidFill>
            <a:prstDash val="solid"/>
          </a:ln>
        </p:spPr>
      </p:sp>
      <p:sp>
        <p:nvSpPr>
          <p:cNvPr id="12" name="chipv PROG1101 2"/>
          <p:cNvSpPr txBox="1"/>
          <p:nvPr/>
        </p:nvSpPr>
        <p:spPr>
          <a:xfrm>
            <a:off x="4059936" y="1828800"/>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48</a:t>
            </a:r>
            <a:endParaRPr lang="en-US" sz="1600" dirty="0"/>
          </a:p>
        </p:txBody>
      </p:sp>
      <p:sp>
        <p:nvSpPr>
          <p:cNvPr id="13" name="chip PROG1101 3"/>
          <p:cNvSpPr/>
          <p:nvPr/>
        </p:nvSpPr>
        <p:spPr>
          <a:xfrm>
            <a:off x="4901184" y="1828800"/>
            <a:ext cx="731520" cy="530352"/>
          </a:xfrm>
          <a:prstGeom prst="roundRect">
            <a:avLst>
              <a:gd name="adj" fmla="val 10345"/>
            </a:avLst>
          </a:prstGeom>
          <a:solidFill>
            <a:srgbClr val="FFFFFF"/>
          </a:solidFill>
          <a:ln w="9525">
            <a:solidFill>
              <a:srgbClr val="B6C6D2"/>
            </a:solidFill>
            <a:prstDash val="solid"/>
          </a:ln>
        </p:spPr>
      </p:sp>
      <p:sp>
        <p:nvSpPr>
          <p:cNvPr id="14" name="chipv PROG1101 3"/>
          <p:cNvSpPr txBox="1"/>
          <p:nvPr/>
        </p:nvSpPr>
        <p:spPr>
          <a:xfrm>
            <a:off x="4901184" y="1828800"/>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88</a:t>
            </a:r>
            <a:endParaRPr lang="en-US" sz="1600" dirty="0"/>
          </a:p>
        </p:txBody>
      </p:sp>
      <p:sp>
        <p:nvSpPr>
          <p:cNvPr id="15" name="chip PROG1101 4"/>
          <p:cNvSpPr/>
          <p:nvPr/>
        </p:nvSpPr>
        <p:spPr>
          <a:xfrm>
            <a:off x="5742432" y="1828800"/>
            <a:ext cx="731520" cy="530352"/>
          </a:xfrm>
          <a:prstGeom prst="roundRect">
            <a:avLst>
              <a:gd name="adj" fmla="val 10345"/>
            </a:avLst>
          </a:prstGeom>
          <a:solidFill>
            <a:srgbClr val="FFFFFF"/>
          </a:solidFill>
          <a:ln w="9525">
            <a:solidFill>
              <a:srgbClr val="B6C6D2"/>
            </a:solidFill>
            <a:prstDash val="solid"/>
          </a:ln>
        </p:spPr>
      </p:sp>
      <p:sp>
        <p:nvSpPr>
          <p:cNvPr id="16" name="chipv PROG1101 4"/>
          <p:cNvSpPr txBox="1"/>
          <p:nvPr/>
        </p:nvSpPr>
        <p:spPr>
          <a:xfrm>
            <a:off x="5742432" y="1828800"/>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65</a:t>
            </a:r>
            <a:endParaRPr lang="en-US" sz="1600" dirty="0"/>
          </a:p>
        </p:txBody>
      </p:sp>
      <p:sp>
        <p:nvSpPr>
          <p:cNvPr id="17" name="arrow PROG1101"/>
          <p:cNvSpPr/>
          <p:nvPr/>
        </p:nvSpPr>
        <p:spPr>
          <a:xfrm>
            <a:off x="6903720" y="1911096"/>
            <a:ext cx="502920" cy="365760"/>
          </a:xfrm>
          <a:prstGeom prst="rightArrow">
            <a:avLst/>
          </a:prstGeom>
          <a:solidFill>
            <a:srgbClr val="F2A541"/>
          </a:solidFill>
          <a:ln/>
        </p:spPr>
      </p:sp>
      <p:sp>
        <p:nvSpPr>
          <p:cNvPr id="18" name="result PROG1101"/>
          <p:cNvSpPr/>
          <p:nvPr/>
        </p:nvSpPr>
        <p:spPr>
          <a:xfrm>
            <a:off x="7589520" y="1792224"/>
            <a:ext cx="4023360" cy="603504"/>
          </a:xfrm>
          <a:prstGeom prst="roundRect">
            <a:avLst>
              <a:gd name="adj" fmla="val 15152"/>
            </a:avLst>
          </a:prstGeom>
          <a:solidFill>
            <a:srgbClr val="0E3B5C"/>
          </a:solidFill>
          <a:ln/>
        </p:spPr>
      </p:sp>
      <p:sp>
        <p:nvSpPr>
          <p:cNvPr id="19" name="result text PROG1101"/>
          <p:cNvSpPr txBox="1"/>
          <p:nvPr/>
        </p:nvSpPr>
        <p:spPr>
          <a:xfrm>
            <a:off x="7772400" y="1792224"/>
            <a:ext cx="3749040" cy="603504"/>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PROG1101   </a:t>
            </a:r>
            <a:pPr indent="0" marL="0">
              <a:buNone/>
            </a:pPr>
            <a:r>
              <a:rPr lang="en-US" sz="1600" dirty="0">
                <a:solidFill>
                  <a:srgbClr val="D9E4EC"/>
                </a:solidFill>
              </a:rPr>
              <a:t>AVG 76.0 · 5 rows</a:t>
            </a:r>
            <a:endParaRPr lang="en-US" sz="1600" dirty="0"/>
          </a:p>
        </p:txBody>
      </p:sp>
      <p:sp>
        <p:nvSpPr>
          <p:cNvPr id="20" name="group band DBMS2101"/>
          <p:cNvSpPr/>
          <p:nvPr/>
        </p:nvSpPr>
        <p:spPr>
          <a:xfrm>
            <a:off x="548640" y="2743200"/>
            <a:ext cx="6172200" cy="749808"/>
          </a:xfrm>
          <a:prstGeom prst="roundRect">
            <a:avLst>
              <a:gd name="adj" fmla="val 12195"/>
            </a:avLst>
          </a:prstGeom>
          <a:solidFill>
            <a:srgbClr val="DCE6F3"/>
          </a:solidFill>
          <a:ln/>
        </p:spPr>
      </p:sp>
      <p:sp>
        <p:nvSpPr>
          <p:cNvPr id="21" name="group code DBMS2101"/>
          <p:cNvSpPr txBox="1"/>
          <p:nvPr/>
        </p:nvSpPr>
        <p:spPr>
          <a:xfrm>
            <a:off x="731520" y="2852928"/>
            <a:ext cx="1554480" cy="530352"/>
          </a:xfrm>
          <a:prstGeom prst="rect">
            <a:avLst/>
          </a:prstGeom>
          <a:noFill/>
          <a:ln/>
        </p:spPr>
        <p:txBody>
          <a:bodyPr wrap="square" lIns="0" tIns="0" rIns="0" bIns="0" rtlCol="0" anchor="ctr"/>
          <a:lstStyle/>
          <a:p>
            <a:pPr indent="0" marL="0">
              <a:buNone/>
            </a:pPr>
            <a:r>
              <a:rPr lang="en-US" sz="1600" b="1" dirty="0">
                <a:solidFill>
                  <a:srgbClr val="0E3B5C"/>
                </a:solidFill>
                <a:latin typeface="Courier New" pitchFamily="34" charset="0"/>
                <a:ea typeface="Courier New" pitchFamily="34" charset="-122"/>
                <a:cs typeface="Courier New" pitchFamily="34" charset="-120"/>
              </a:rPr>
              <a:t>DBMS2101</a:t>
            </a:r>
            <a:endParaRPr lang="en-US" sz="1600" dirty="0"/>
          </a:p>
        </p:txBody>
      </p:sp>
      <p:sp>
        <p:nvSpPr>
          <p:cNvPr id="22" name="chip DBMS2101 0"/>
          <p:cNvSpPr/>
          <p:nvPr/>
        </p:nvSpPr>
        <p:spPr>
          <a:xfrm>
            <a:off x="2377440" y="2852928"/>
            <a:ext cx="731520" cy="530352"/>
          </a:xfrm>
          <a:prstGeom prst="roundRect">
            <a:avLst>
              <a:gd name="adj" fmla="val 10345"/>
            </a:avLst>
          </a:prstGeom>
          <a:solidFill>
            <a:srgbClr val="FFFFFF"/>
          </a:solidFill>
          <a:ln w="9525">
            <a:solidFill>
              <a:srgbClr val="B6C6D2"/>
            </a:solidFill>
            <a:prstDash val="solid"/>
          </a:ln>
        </p:spPr>
      </p:sp>
      <p:sp>
        <p:nvSpPr>
          <p:cNvPr id="23" name="chipv DBMS2101 0"/>
          <p:cNvSpPr txBox="1"/>
          <p:nvPr/>
        </p:nvSpPr>
        <p:spPr>
          <a:xfrm>
            <a:off x="2377440" y="2852928"/>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91</a:t>
            </a:r>
            <a:endParaRPr lang="en-US" sz="1600" dirty="0"/>
          </a:p>
        </p:txBody>
      </p:sp>
      <p:sp>
        <p:nvSpPr>
          <p:cNvPr id="24" name="chip DBMS2101 1"/>
          <p:cNvSpPr/>
          <p:nvPr/>
        </p:nvSpPr>
        <p:spPr>
          <a:xfrm>
            <a:off x="3218688" y="2852928"/>
            <a:ext cx="731520" cy="530352"/>
          </a:xfrm>
          <a:prstGeom prst="roundRect">
            <a:avLst>
              <a:gd name="adj" fmla="val 10345"/>
            </a:avLst>
          </a:prstGeom>
          <a:solidFill>
            <a:srgbClr val="FFFFFF"/>
          </a:solidFill>
          <a:ln w="9525">
            <a:solidFill>
              <a:srgbClr val="B6C6D2"/>
            </a:solidFill>
            <a:prstDash val="solid"/>
          </a:ln>
        </p:spPr>
      </p:sp>
      <p:sp>
        <p:nvSpPr>
          <p:cNvPr id="25" name="chipv DBMS2101 1"/>
          <p:cNvSpPr txBox="1"/>
          <p:nvPr/>
        </p:nvSpPr>
        <p:spPr>
          <a:xfrm>
            <a:off x="3218688" y="2852928"/>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77</a:t>
            </a:r>
            <a:endParaRPr lang="en-US" sz="1600" dirty="0"/>
          </a:p>
        </p:txBody>
      </p:sp>
      <p:sp>
        <p:nvSpPr>
          <p:cNvPr id="26" name="arrow DBMS2101"/>
          <p:cNvSpPr/>
          <p:nvPr/>
        </p:nvSpPr>
        <p:spPr>
          <a:xfrm>
            <a:off x="6903720" y="2935224"/>
            <a:ext cx="502920" cy="365760"/>
          </a:xfrm>
          <a:prstGeom prst="rightArrow">
            <a:avLst/>
          </a:prstGeom>
          <a:solidFill>
            <a:srgbClr val="F2A541"/>
          </a:solidFill>
          <a:ln/>
        </p:spPr>
      </p:sp>
      <p:sp>
        <p:nvSpPr>
          <p:cNvPr id="27" name="result DBMS2101"/>
          <p:cNvSpPr/>
          <p:nvPr/>
        </p:nvSpPr>
        <p:spPr>
          <a:xfrm>
            <a:off x="7589520" y="2816352"/>
            <a:ext cx="4023360" cy="603504"/>
          </a:xfrm>
          <a:prstGeom prst="roundRect">
            <a:avLst>
              <a:gd name="adj" fmla="val 15152"/>
            </a:avLst>
          </a:prstGeom>
          <a:solidFill>
            <a:srgbClr val="0E3B5C"/>
          </a:solidFill>
          <a:ln/>
        </p:spPr>
      </p:sp>
      <p:sp>
        <p:nvSpPr>
          <p:cNvPr id="28" name="result text DBMS2101"/>
          <p:cNvSpPr txBox="1"/>
          <p:nvPr/>
        </p:nvSpPr>
        <p:spPr>
          <a:xfrm>
            <a:off x="7772400" y="2816352"/>
            <a:ext cx="3749040" cy="603504"/>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DBMS2101   </a:t>
            </a:r>
            <a:pPr indent="0" marL="0">
              <a:buNone/>
            </a:pPr>
            <a:r>
              <a:rPr lang="en-US" sz="1600" dirty="0">
                <a:solidFill>
                  <a:srgbClr val="D9E4EC"/>
                </a:solidFill>
              </a:rPr>
              <a:t>AVG 84.0 · 2 rows</a:t>
            </a:r>
            <a:endParaRPr lang="en-US" sz="1600" dirty="0"/>
          </a:p>
        </p:txBody>
      </p:sp>
      <p:sp>
        <p:nvSpPr>
          <p:cNvPr id="29" name="group band ISYS2201"/>
          <p:cNvSpPr/>
          <p:nvPr/>
        </p:nvSpPr>
        <p:spPr>
          <a:xfrm>
            <a:off x="548640" y="3767328"/>
            <a:ext cx="6172200" cy="749808"/>
          </a:xfrm>
          <a:prstGeom prst="roundRect">
            <a:avLst>
              <a:gd name="adj" fmla="val 12195"/>
            </a:avLst>
          </a:prstGeom>
          <a:solidFill>
            <a:srgbClr val="E6E1F0"/>
          </a:solidFill>
          <a:ln/>
        </p:spPr>
      </p:sp>
      <p:sp>
        <p:nvSpPr>
          <p:cNvPr id="30" name="group code ISYS2201"/>
          <p:cNvSpPr txBox="1"/>
          <p:nvPr/>
        </p:nvSpPr>
        <p:spPr>
          <a:xfrm>
            <a:off x="731520" y="3877056"/>
            <a:ext cx="1554480" cy="530352"/>
          </a:xfrm>
          <a:prstGeom prst="rect">
            <a:avLst/>
          </a:prstGeom>
          <a:noFill/>
          <a:ln/>
        </p:spPr>
        <p:txBody>
          <a:bodyPr wrap="square" lIns="0" tIns="0" rIns="0" bIns="0" rtlCol="0" anchor="ctr"/>
          <a:lstStyle/>
          <a:p>
            <a:pPr indent="0" marL="0">
              <a:buNone/>
            </a:pPr>
            <a:r>
              <a:rPr lang="en-US" sz="1600" b="1" dirty="0">
                <a:solidFill>
                  <a:srgbClr val="0E3B5C"/>
                </a:solidFill>
                <a:latin typeface="Courier New" pitchFamily="34" charset="0"/>
                <a:ea typeface="Courier New" pitchFamily="34" charset="-122"/>
                <a:cs typeface="Courier New" pitchFamily="34" charset="-120"/>
              </a:rPr>
              <a:t>ISYS2201</a:t>
            </a:r>
            <a:endParaRPr lang="en-US" sz="1600" dirty="0"/>
          </a:p>
        </p:txBody>
      </p:sp>
      <p:sp>
        <p:nvSpPr>
          <p:cNvPr id="31" name="chip ISYS2201 0"/>
          <p:cNvSpPr/>
          <p:nvPr/>
        </p:nvSpPr>
        <p:spPr>
          <a:xfrm>
            <a:off x="2377440" y="3877056"/>
            <a:ext cx="731520" cy="530352"/>
          </a:xfrm>
          <a:prstGeom prst="roundRect">
            <a:avLst>
              <a:gd name="adj" fmla="val 10345"/>
            </a:avLst>
          </a:prstGeom>
          <a:solidFill>
            <a:srgbClr val="FFFFFF"/>
          </a:solidFill>
          <a:ln w="9525">
            <a:solidFill>
              <a:srgbClr val="B6C6D2"/>
            </a:solidFill>
            <a:prstDash val="solid"/>
          </a:ln>
        </p:spPr>
      </p:sp>
      <p:sp>
        <p:nvSpPr>
          <p:cNvPr id="32" name="chipv ISYS2201 0"/>
          <p:cNvSpPr txBox="1"/>
          <p:nvPr/>
        </p:nvSpPr>
        <p:spPr>
          <a:xfrm>
            <a:off x="2377440" y="3877056"/>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73</a:t>
            </a:r>
            <a:endParaRPr lang="en-US" sz="1600" dirty="0"/>
          </a:p>
        </p:txBody>
      </p:sp>
      <p:sp>
        <p:nvSpPr>
          <p:cNvPr id="33" name="chip ISYS2201 1"/>
          <p:cNvSpPr/>
          <p:nvPr/>
        </p:nvSpPr>
        <p:spPr>
          <a:xfrm>
            <a:off x="3218688" y="3877056"/>
            <a:ext cx="731520" cy="530352"/>
          </a:xfrm>
          <a:prstGeom prst="roundRect">
            <a:avLst>
              <a:gd name="adj" fmla="val 10345"/>
            </a:avLst>
          </a:prstGeom>
          <a:solidFill>
            <a:srgbClr val="FCEBC9"/>
          </a:solidFill>
          <a:ln w="9525">
            <a:solidFill>
              <a:srgbClr val="B6C6D2"/>
            </a:solidFill>
            <a:prstDash val="solid"/>
          </a:ln>
        </p:spPr>
      </p:sp>
      <p:sp>
        <p:nvSpPr>
          <p:cNvPr id="34" name="chipv ISYS2201 1"/>
          <p:cNvSpPr txBox="1"/>
          <p:nvPr/>
        </p:nvSpPr>
        <p:spPr>
          <a:xfrm>
            <a:off x="3218688" y="3877056"/>
            <a:ext cx="731520" cy="530352"/>
          </a:xfrm>
          <a:prstGeom prst="rect">
            <a:avLst/>
          </a:prstGeom>
          <a:noFill/>
          <a:ln/>
        </p:spPr>
        <p:txBody>
          <a:bodyPr wrap="square" lIns="0" tIns="0" rIns="0" bIns="0" rtlCol="0" anchor="ctr"/>
          <a:lstStyle/>
          <a:p>
            <a:pPr algn="ctr" indent="0" marL="0">
              <a:buNone/>
            </a:pPr>
            <a:r>
              <a:rPr lang="en-US" sz="1200" b="1" dirty="0">
                <a:solidFill>
                  <a:srgbClr val="9A6A12"/>
                </a:solidFill>
              </a:rPr>
              <a:t>NULL</a:t>
            </a:r>
            <a:endParaRPr lang="en-US" sz="1200" dirty="0"/>
          </a:p>
        </p:txBody>
      </p:sp>
      <p:sp>
        <p:nvSpPr>
          <p:cNvPr id="35" name="arrow ISYS2201"/>
          <p:cNvSpPr/>
          <p:nvPr/>
        </p:nvSpPr>
        <p:spPr>
          <a:xfrm>
            <a:off x="6903720" y="3959352"/>
            <a:ext cx="502920" cy="365760"/>
          </a:xfrm>
          <a:prstGeom prst="rightArrow">
            <a:avLst/>
          </a:prstGeom>
          <a:solidFill>
            <a:srgbClr val="F2A541"/>
          </a:solidFill>
          <a:ln/>
        </p:spPr>
      </p:sp>
      <p:sp>
        <p:nvSpPr>
          <p:cNvPr id="36" name="result ISYS2201"/>
          <p:cNvSpPr/>
          <p:nvPr/>
        </p:nvSpPr>
        <p:spPr>
          <a:xfrm>
            <a:off x="7589520" y="3840480"/>
            <a:ext cx="4023360" cy="603504"/>
          </a:xfrm>
          <a:prstGeom prst="roundRect">
            <a:avLst>
              <a:gd name="adj" fmla="val 15152"/>
            </a:avLst>
          </a:prstGeom>
          <a:solidFill>
            <a:srgbClr val="0E3B5C"/>
          </a:solidFill>
          <a:ln/>
        </p:spPr>
      </p:sp>
      <p:sp>
        <p:nvSpPr>
          <p:cNvPr id="37" name="result text ISYS2201"/>
          <p:cNvSpPr txBox="1"/>
          <p:nvPr/>
        </p:nvSpPr>
        <p:spPr>
          <a:xfrm>
            <a:off x="7772400" y="3840480"/>
            <a:ext cx="3749040" cy="603504"/>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ISYS2201   </a:t>
            </a:r>
            <a:pPr indent="0" marL="0">
              <a:buNone/>
            </a:pPr>
            <a:r>
              <a:rPr lang="en-US" sz="1600" dirty="0">
                <a:solidFill>
                  <a:srgbClr val="D9E4EC"/>
                </a:solidFill>
              </a:rPr>
              <a:t>AVG 73.0 · 2 rows</a:t>
            </a:r>
            <a:endParaRPr lang="en-US" sz="1600" dirty="0"/>
          </a:p>
        </p:txBody>
      </p:sp>
      <p:sp>
        <p:nvSpPr>
          <p:cNvPr id="38" name="group band ECON1101"/>
          <p:cNvSpPr/>
          <p:nvPr/>
        </p:nvSpPr>
        <p:spPr>
          <a:xfrm>
            <a:off x="548640" y="4791456"/>
            <a:ext cx="6172200" cy="749808"/>
          </a:xfrm>
          <a:prstGeom prst="roundRect">
            <a:avLst>
              <a:gd name="adj" fmla="val 12195"/>
            </a:avLst>
          </a:prstGeom>
          <a:solidFill>
            <a:srgbClr val="E1EEDF"/>
          </a:solidFill>
          <a:ln/>
        </p:spPr>
      </p:sp>
      <p:sp>
        <p:nvSpPr>
          <p:cNvPr id="39" name="group code ECON1101"/>
          <p:cNvSpPr txBox="1"/>
          <p:nvPr/>
        </p:nvSpPr>
        <p:spPr>
          <a:xfrm>
            <a:off x="731520" y="4901184"/>
            <a:ext cx="1554480" cy="530352"/>
          </a:xfrm>
          <a:prstGeom prst="rect">
            <a:avLst/>
          </a:prstGeom>
          <a:noFill/>
          <a:ln/>
        </p:spPr>
        <p:txBody>
          <a:bodyPr wrap="square" lIns="0" tIns="0" rIns="0" bIns="0" rtlCol="0" anchor="ctr"/>
          <a:lstStyle/>
          <a:p>
            <a:pPr indent="0" marL="0">
              <a:buNone/>
            </a:pPr>
            <a:r>
              <a:rPr lang="en-US" sz="1600" b="1" dirty="0">
                <a:solidFill>
                  <a:srgbClr val="0E3B5C"/>
                </a:solidFill>
                <a:latin typeface="Courier New" pitchFamily="34" charset="0"/>
                <a:ea typeface="Courier New" pitchFamily="34" charset="-122"/>
                <a:cs typeface="Courier New" pitchFamily="34" charset="-120"/>
              </a:rPr>
              <a:t>ECON1101</a:t>
            </a:r>
            <a:endParaRPr lang="en-US" sz="1600" dirty="0"/>
          </a:p>
        </p:txBody>
      </p:sp>
      <p:sp>
        <p:nvSpPr>
          <p:cNvPr id="40" name="chip ECON1101 0"/>
          <p:cNvSpPr/>
          <p:nvPr/>
        </p:nvSpPr>
        <p:spPr>
          <a:xfrm>
            <a:off x="2377440" y="4901184"/>
            <a:ext cx="731520" cy="530352"/>
          </a:xfrm>
          <a:prstGeom prst="roundRect">
            <a:avLst>
              <a:gd name="adj" fmla="val 10345"/>
            </a:avLst>
          </a:prstGeom>
          <a:solidFill>
            <a:srgbClr val="FFFFFF"/>
          </a:solidFill>
          <a:ln w="9525">
            <a:solidFill>
              <a:srgbClr val="B6C6D2"/>
            </a:solidFill>
            <a:prstDash val="solid"/>
          </a:ln>
        </p:spPr>
      </p:sp>
      <p:sp>
        <p:nvSpPr>
          <p:cNvPr id="41" name="chipv ECON1101 0"/>
          <p:cNvSpPr txBox="1"/>
          <p:nvPr/>
        </p:nvSpPr>
        <p:spPr>
          <a:xfrm>
            <a:off x="2377440" y="4901184"/>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82</a:t>
            </a:r>
            <a:endParaRPr lang="en-US" sz="1600" dirty="0"/>
          </a:p>
        </p:txBody>
      </p:sp>
      <p:sp>
        <p:nvSpPr>
          <p:cNvPr id="42" name="chip ECON1101 1"/>
          <p:cNvSpPr/>
          <p:nvPr/>
        </p:nvSpPr>
        <p:spPr>
          <a:xfrm>
            <a:off x="3218688" y="4901184"/>
            <a:ext cx="731520" cy="530352"/>
          </a:xfrm>
          <a:prstGeom prst="roundRect">
            <a:avLst>
              <a:gd name="adj" fmla="val 10345"/>
            </a:avLst>
          </a:prstGeom>
          <a:solidFill>
            <a:srgbClr val="FFFFFF"/>
          </a:solidFill>
          <a:ln w="9525">
            <a:solidFill>
              <a:srgbClr val="B6C6D2"/>
            </a:solidFill>
            <a:prstDash val="solid"/>
          </a:ln>
        </p:spPr>
      </p:sp>
      <p:sp>
        <p:nvSpPr>
          <p:cNvPr id="43" name="chipv ECON1101 1"/>
          <p:cNvSpPr txBox="1"/>
          <p:nvPr/>
        </p:nvSpPr>
        <p:spPr>
          <a:xfrm>
            <a:off x="3218688" y="4901184"/>
            <a:ext cx="731520" cy="530352"/>
          </a:xfrm>
          <a:prstGeom prst="rect">
            <a:avLst/>
          </a:prstGeom>
          <a:noFill/>
          <a:ln/>
        </p:spPr>
        <p:txBody>
          <a:bodyPr wrap="square" lIns="0" tIns="0" rIns="0" bIns="0" rtlCol="0" anchor="ctr"/>
          <a:lstStyle/>
          <a:p>
            <a:pPr algn="ctr" indent="0" marL="0">
              <a:buNone/>
            </a:pPr>
            <a:r>
              <a:rPr lang="en-US" sz="1600" b="1" dirty="0">
                <a:solidFill>
                  <a:srgbClr val="1B2433"/>
                </a:solidFill>
              </a:rPr>
              <a:t>90</a:t>
            </a:r>
            <a:endParaRPr lang="en-US" sz="1600" dirty="0"/>
          </a:p>
        </p:txBody>
      </p:sp>
      <p:sp>
        <p:nvSpPr>
          <p:cNvPr id="44" name="arrow ECON1101"/>
          <p:cNvSpPr/>
          <p:nvPr/>
        </p:nvSpPr>
        <p:spPr>
          <a:xfrm>
            <a:off x="6903720" y="4983480"/>
            <a:ext cx="502920" cy="365760"/>
          </a:xfrm>
          <a:prstGeom prst="rightArrow">
            <a:avLst/>
          </a:prstGeom>
          <a:solidFill>
            <a:srgbClr val="F2A541"/>
          </a:solidFill>
          <a:ln/>
        </p:spPr>
      </p:sp>
      <p:sp>
        <p:nvSpPr>
          <p:cNvPr id="45" name="result ECON1101"/>
          <p:cNvSpPr/>
          <p:nvPr/>
        </p:nvSpPr>
        <p:spPr>
          <a:xfrm>
            <a:off x="7589520" y="4864608"/>
            <a:ext cx="4023360" cy="603504"/>
          </a:xfrm>
          <a:prstGeom prst="roundRect">
            <a:avLst>
              <a:gd name="adj" fmla="val 15152"/>
            </a:avLst>
          </a:prstGeom>
          <a:solidFill>
            <a:srgbClr val="0E3B5C"/>
          </a:solidFill>
          <a:ln/>
        </p:spPr>
      </p:sp>
      <p:sp>
        <p:nvSpPr>
          <p:cNvPr id="46" name="result text ECON1101"/>
          <p:cNvSpPr txBox="1"/>
          <p:nvPr/>
        </p:nvSpPr>
        <p:spPr>
          <a:xfrm>
            <a:off x="7772400" y="4864608"/>
            <a:ext cx="3749040" cy="603504"/>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ECON1101   </a:t>
            </a:r>
            <a:pPr indent="0" marL="0">
              <a:buNone/>
            </a:pPr>
            <a:r>
              <a:rPr lang="en-US" sz="1600" dirty="0">
                <a:solidFill>
                  <a:srgbClr val="D9E4EC"/>
                </a:solidFill>
              </a:rPr>
              <a:t>AVG 86.0 · 2 rows</a:t>
            </a:r>
            <a:endParaRPr lang="en-US" sz="1600" dirty="0"/>
          </a:p>
        </p:txBody>
      </p:sp>
      <p:sp>
        <p:nvSpPr>
          <p:cNvPr id="47" name="caption"/>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300" i="1" dirty="0">
                <a:solidFill>
                  <a:srgbClr val="5B6B78"/>
                </a:solidFill>
              </a:rPr>
              <a:t>GROUP BY course splits the 11 rows into 4 groups; every aggregate is then computed inside each group.</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GROUP BY in SQL</a:t>
            </a:r>
            <a:endParaRPr lang="en-US" sz="3200" dirty="0"/>
          </a:p>
        </p:txBody>
      </p:sp>
      <p:sp>
        <p:nvSpPr>
          <p:cNvPr id="3" name="group sql panel"/>
          <p:cNvSpPr/>
          <p:nvPr/>
        </p:nvSpPr>
        <p:spPr>
          <a:xfrm>
            <a:off x="548640" y="1371600"/>
            <a:ext cx="5760720" cy="2514600"/>
          </a:xfrm>
          <a:prstGeom prst="roundRect">
            <a:avLst>
              <a:gd name="adj" fmla="val 4364"/>
            </a:avLst>
          </a:prstGeom>
          <a:solidFill>
            <a:srgbClr val="1B2433"/>
          </a:solidFill>
          <a:ln/>
        </p:spPr>
      </p:sp>
      <p:sp>
        <p:nvSpPr>
          <p:cNvPr id="4" name="group sql code"/>
          <p:cNvSpPr txBox="1"/>
          <p:nvPr/>
        </p:nvSpPr>
        <p:spPr>
          <a:xfrm>
            <a:off x="777240" y="1554480"/>
            <a:ext cx="5303520" cy="2148840"/>
          </a:xfrm>
          <a:prstGeom prst="rect">
            <a:avLst/>
          </a:prstGeom>
          <a:noFill/>
          <a:ln/>
        </p:spPr>
        <p:txBody>
          <a:bodyPr wrap="square" lIns="0" tIns="0" rIns="0" bIns="0" rtlCol="0" anchor="t"/>
          <a:lstStyle/>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SELECT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course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COUNT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students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ROUND</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AVG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B8E0A8"/>
                </a:solidFill>
                <a:latin typeface="Courier New" pitchFamily="34" charset="0"/>
                <a:ea typeface="Courier New" pitchFamily="34" charset="-122"/>
                <a:cs typeface="Courier New" pitchFamily="34" charset="-120"/>
              </a:rPr>
              <a:t>1</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avg_grade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MAX</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best</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FROM</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enrollments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JOIN</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courses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USING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course_id</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GROUP</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BY</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code</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ORDER</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BY</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avg_grade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DESC</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p:txBody>
      </p:sp>
      <p:graphicFrame>
        <p:nvGraphicFramePr>
          <p:cNvPr id="9" name="group result"/>
          <p:cNvGraphicFramePr>
            <a:graphicFrameLocks noGrp="1"/>
          </p:cNvGraphicFramePr>
          <p:nvPr>
            <p:extLst>
              <p:ext uri="{D42A27DB-BD31-4B8C-83A1-F6EECF244321}">
                <p14:modId xmlns:p14="http://schemas.microsoft.com/office/powerpoint/2010/main" val="1579011935"/>
              </p:ext>
            </p:extLst>
          </p:nvPr>
        </p:nvGraphicFramePr>
        <p:xfrm>
          <a:off x="6675120" y="1371600"/>
          <a:ext cx="4937760" cy="914400"/>
        </p:xfrm>
        <a:graphic>
          <a:graphicData uri="http://schemas.openxmlformats.org/drawingml/2006/table">
            <a:tbl>
              <a:tblPr/>
              <a:tblGrid>
                <a:gridCol w="1417320"/>
                <a:gridCol w="1143000"/>
                <a:gridCol w="1325880"/>
                <a:gridCol w="1051560"/>
              </a:tblGrid>
              <a:tr h="329184">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course</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students</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avg_grade</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best</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r>
              <a:tr h="329184">
                <a:tc>
                  <a:txBody>
                    <a:bodyPr/>
                    <a:lstStyle/>
                    <a:p>
                      <a:pPr algn="l" indent="0" marL="0">
                        <a:buNone/>
                      </a:pPr>
                      <a:r>
                        <a:rPr lang="en-US" sz="1500" dirty="0">
                          <a:solidFill>
                            <a:srgbClr val="1B2433"/>
                          </a:solidFill>
                        </a:rPr>
                        <a:t>ECON1101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2</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86.0</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90</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DBMS2101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2</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84.0</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91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PROG1101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5</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76.0</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94</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ISYS2201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2</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73.0</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73</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bl>
          </a:graphicData>
        </a:graphic>
      </p:graphicFrame>
      <p:sp>
        <p:nvSpPr>
          <p:cNvPr id="6" name="group note"/>
          <p:cNvSpPr/>
          <p:nvPr/>
        </p:nvSpPr>
        <p:spPr>
          <a:xfrm>
            <a:off x="548640" y="4206240"/>
            <a:ext cx="11094415" cy="1463040"/>
          </a:xfrm>
          <a:prstGeom prst="roundRect">
            <a:avLst>
              <a:gd name="adj" fmla="val 7500"/>
            </a:avLst>
          </a:prstGeom>
          <a:solidFill>
            <a:srgbClr val="FFF6E6"/>
          </a:solidFill>
          <a:ln/>
          <a:effectLst>
            <a:outerShdw sx="100000" sy="100000" kx="0" ky="0" algn="bl" rotWithShape="0" blurRad="76200" dist="25400" dir="5400000">
              <a:srgbClr val="0E3B5C">
                <a:alpha val="12000"/>
              </a:srgbClr>
            </a:outerShdw>
          </a:effectLst>
        </p:spPr>
      </p:sp>
      <p:sp>
        <p:nvSpPr>
          <p:cNvPr id="7" name="group note text"/>
          <p:cNvSpPr txBox="1"/>
          <p:nvPr/>
        </p:nvSpPr>
        <p:spPr>
          <a:xfrm>
            <a:off x="822960" y="4315968"/>
            <a:ext cx="10545775" cy="1234440"/>
          </a:xfrm>
          <a:prstGeom prst="rect">
            <a:avLst/>
          </a:prstGeom>
          <a:noFill/>
          <a:ln/>
        </p:spPr>
        <p:txBody>
          <a:bodyPr wrap="square" lIns="0" tIns="0" rIns="0" bIns="0" rtlCol="0" anchor="ctr"/>
          <a:lstStyle/>
          <a:p>
            <a:pPr indent="0" marL="0">
              <a:buNone/>
            </a:pPr>
            <a:r>
              <a:rPr lang="en-US" sz="1700" b="1" dirty="0">
                <a:solidFill>
                  <a:srgbClr val="1B2433"/>
                </a:solidFill>
              </a:rPr>
              <a:t>Look at ISYS2201: </a:t>
            </a:r>
            <a:pPr indent="0" marL="0">
              <a:buNone/>
            </a:pPr>
            <a:r>
              <a:rPr lang="en-US" sz="1700" dirty="0">
                <a:solidFill>
                  <a:srgbClr val="1B2433"/>
                </a:solidFill>
              </a:rPr>
              <a:t>COUNT(*) gives 2 students, but its average uses only one grade (73) — Garcia's NULL grade is counted as a row yet skipped by AVG and MAX.</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The GROUP BY rule</a:t>
            </a:r>
            <a:endParaRPr lang="en-US" sz="3200" dirty="0"/>
          </a:p>
        </p:txBody>
      </p:sp>
      <p:sp>
        <p:nvSpPr>
          <p:cNvPr id="3" name="rule card"/>
          <p:cNvSpPr/>
          <p:nvPr/>
        </p:nvSpPr>
        <p:spPr>
          <a:xfrm>
            <a:off x="548640" y="1325880"/>
            <a:ext cx="11094415" cy="868680"/>
          </a:xfrm>
          <a:prstGeom prst="roundRect">
            <a:avLst>
              <a:gd name="adj" fmla="val 12632"/>
            </a:avLst>
          </a:prstGeom>
          <a:solidFill>
            <a:srgbClr val="0E3B5C"/>
          </a:solidFill>
          <a:ln/>
          <a:effectLst>
            <a:outerShdw sx="100000" sy="100000" kx="0" ky="0" algn="bl" rotWithShape="0" blurRad="76200" dist="25400" dir="5400000">
              <a:srgbClr val="0E3B5C">
                <a:alpha val="12000"/>
              </a:srgbClr>
            </a:outerShdw>
          </a:effectLst>
        </p:spPr>
      </p:sp>
      <p:sp>
        <p:nvSpPr>
          <p:cNvPr id="4" name="rule text"/>
          <p:cNvSpPr txBox="1"/>
          <p:nvPr/>
        </p:nvSpPr>
        <p:spPr>
          <a:xfrm>
            <a:off x="822960" y="1325880"/>
            <a:ext cx="10545775" cy="868680"/>
          </a:xfrm>
          <a:prstGeom prst="rect">
            <a:avLst/>
          </a:prstGeom>
          <a:noFill/>
          <a:ln/>
        </p:spPr>
        <p:txBody>
          <a:bodyPr wrap="square" lIns="0" tIns="0" rIns="0" bIns="0" rtlCol="0" anchor="ctr"/>
          <a:lstStyle/>
          <a:p>
            <a:pPr indent="0" marL="0">
              <a:buNone/>
            </a:pPr>
            <a:r>
              <a:rPr lang="en-US" sz="1900" b="1" dirty="0">
                <a:solidFill>
                  <a:srgbClr val="FFFFFF"/>
                </a:solidFill>
              </a:rPr>
              <a:t>Every column in SELECT must either appear in GROUP BY or be inside an aggregate function.</a:t>
            </a:r>
            <a:endParaRPr lang="en-US" sz="1900" dirty="0"/>
          </a:p>
        </p:txBody>
      </p:sp>
      <p:sp>
        <p:nvSpPr>
          <p:cNvPr id="5" name="wrong label"/>
          <p:cNvSpPr txBox="1"/>
          <p:nvPr/>
        </p:nvSpPr>
        <p:spPr>
          <a:xfrm>
            <a:off x="548640" y="2468880"/>
            <a:ext cx="1828800" cy="365760"/>
          </a:xfrm>
          <a:prstGeom prst="rect">
            <a:avLst/>
          </a:prstGeom>
          <a:noFill/>
          <a:ln/>
        </p:spPr>
        <p:txBody>
          <a:bodyPr wrap="square" lIns="0" tIns="0" rIns="0" bIns="0" rtlCol="0" anchor="t"/>
          <a:lstStyle/>
          <a:p>
            <a:pPr indent="0" marL="0">
              <a:buNone/>
            </a:pPr>
            <a:r>
              <a:rPr lang="en-US" sz="1800" b="1" dirty="0">
                <a:solidFill>
                  <a:srgbClr val="C8553D"/>
                </a:solidFill>
              </a:rPr>
              <a:t>Wrong</a:t>
            </a:r>
            <a:endParaRPr lang="en-US" sz="1800" dirty="0"/>
          </a:p>
        </p:txBody>
      </p:sp>
      <p:sp>
        <p:nvSpPr>
          <p:cNvPr id="6" name="wrong sql panel"/>
          <p:cNvSpPr/>
          <p:nvPr/>
        </p:nvSpPr>
        <p:spPr>
          <a:xfrm>
            <a:off x="548640" y="2880360"/>
            <a:ext cx="5410048" cy="1645920"/>
          </a:xfrm>
          <a:prstGeom prst="roundRect">
            <a:avLst>
              <a:gd name="adj" fmla="val 6667"/>
            </a:avLst>
          </a:prstGeom>
          <a:solidFill>
            <a:srgbClr val="1B2433"/>
          </a:solidFill>
          <a:ln/>
        </p:spPr>
      </p:sp>
      <p:sp>
        <p:nvSpPr>
          <p:cNvPr id="7" name="wrong sql code"/>
          <p:cNvSpPr txBox="1"/>
          <p:nvPr/>
        </p:nvSpPr>
        <p:spPr>
          <a:xfrm>
            <a:off x="777240" y="3063240"/>
            <a:ext cx="4952848" cy="1280160"/>
          </a:xfrm>
          <a:prstGeom prst="rect">
            <a:avLst/>
          </a:prstGeom>
          <a:noFill/>
          <a:ln/>
        </p:spPr>
        <p:txBody>
          <a:bodyPr wrap="square" lIns="0" tIns="0" rIns="0" bIns="0" rtlCol="0" anchor="t"/>
          <a:lstStyle/>
          <a:p>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SELECT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student_id</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F6C56E"/>
                </a:solidFill>
                <a:latin typeface="Courier New" pitchFamily="34" charset="0"/>
                <a:ea typeface="Courier New" pitchFamily="34" charset="-122"/>
                <a:cs typeface="Courier New" pitchFamily="34" charset="-120"/>
              </a:rPr>
              <a:t>AVG</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FROM</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enrollments</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JOIN</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courses</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a:t>
            </a:r>
            <a:endParaRPr lang="en-US" sz="1400" dirty="0"/>
          </a:p>
          <a:p>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USING</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course_id</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GROUP</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BY</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p:txBody>
      </p:sp>
      <p:sp>
        <p:nvSpPr>
          <p:cNvPr id="8" name="error card"/>
          <p:cNvSpPr/>
          <p:nvPr/>
        </p:nvSpPr>
        <p:spPr>
          <a:xfrm>
            <a:off x="548640" y="4754880"/>
            <a:ext cx="5410048" cy="1188720"/>
          </a:xfrm>
          <a:prstGeom prst="roundRect">
            <a:avLst>
              <a:gd name="adj" fmla="val 9231"/>
            </a:avLst>
          </a:prstGeom>
          <a:solidFill>
            <a:srgbClr val="FBE7E3"/>
          </a:solidFill>
          <a:ln/>
          <a:effectLst>
            <a:outerShdw sx="100000" sy="100000" kx="0" ky="0" algn="bl" rotWithShape="0" blurRad="76200" dist="25400" dir="5400000">
              <a:srgbClr val="0E3B5C">
                <a:alpha val="12000"/>
              </a:srgbClr>
            </a:outerShdw>
          </a:effectLst>
        </p:spPr>
      </p:sp>
      <p:sp>
        <p:nvSpPr>
          <p:cNvPr id="9" name="error text"/>
          <p:cNvSpPr txBox="1"/>
          <p:nvPr/>
        </p:nvSpPr>
        <p:spPr>
          <a:xfrm>
            <a:off x="777240" y="4773168"/>
            <a:ext cx="4952848" cy="1143000"/>
          </a:xfrm>
          <a:prstGeom prst="rect">
            <a:avLst/>
          </a:prstGeom>
          <a:noFill/>
          <a:ln/>
        </p:spPr>
        <p:txBody>
          <a:bodyPr wrap="square" lIns="0" tIns="0" rIns="0" bIns="0" rtlCol="0" anchor="ctr"/>
          <a:lstStyle/>
          <a:p>
            <a:pPr indent="0" marL="0">
              <a:buNone/>
            </a:pPr>
            <a:r>
              <a:rPr lang="en-US" sz="1300" b="1" dirty="0">
                <a:solidFill>
                  <a:srgbClr val="C8553D"/>
                </a:solidFill>
              </a:rPr>
              <a:t>PostgreSQL: </a:t>
            </a:r>
            <a:pPr indent="0" marL="0">
              <a:buNone/>
            </a:pPr>
            <a:r>
              <a:rPr lang="en-US" sz="1300" dirty="0">
                <a:solidFill>
                  <a:srgbClr val="1B2433"/>
                </a:solidFill>
                <a:latin typeface="Courier New" pitchFamily="34" charset="0"/>
                <a:ea typeface="Courier New" pitchFamily="34" charset="-122"/>
                <a:cs typeface="Courier New" pitchFamily="34" charset="-120"/>
              </a:rPr>
              <a:t>column "e.student_id" must appear in the GROUP BY clause or be used in an aggregate function</a:t>
            </a:r>
            <a:endParaRPr lang="en-US" sz="1300" dirty="0"/>
          </a:p>
        </p:txBody>
      </p:sp>
      <p:sp>
        <p:nvSpPr>
          <p:cNvPr id="10" name="right label"/>
          <p:cNvSpPr txBox="1"/>
          <p:nvPr/>
        </p:nvSpPr>
        <p:spPr>
          <a:xfrm>
            <a:off x="6233008" y="2468880"/>
            <a:ext cx="1828800" cy="365760"/>
          </a:xfrm>
          <a:prstGeom prst="rect">
            <a:avLst/>
          </a:prstGeom>
          <a:noFill/>
          <a:ln/>
        </p:spPr>
        <p:txBody>
          <a:bodyPr wrap="square" lIns="0" tIns="0" rIns="0" bIns="0" rtlCol="0" anchor="t"/>
          <a:lstStyle/>
          <a:p>
            <a:pPr indent="0" marL="0">
              <a:buNone/>
            </a:pPr>
            <a:r>
              <a:rPr lang="en-US" sz="1800" b="1" dirty="0">
                <a:solidFill>
                  <a:srgbClr val="1F8A99"/>
                </a:solidFill>
              </a:rPr>
              <a:t>Correct</a:t>
            </a:r>
            <a:endParaRPr lang="en-US" sz="1800" dirty="0"/>
          </a:p>
        </p:txBody>
      </p:sp>
      <p:sp>
        <p:nvSpPr>
          <p:cNvPr id="11" name="right sql panel"/>
          <p:cNvSpPr/>
          <p:nvPr/>
        </p:nvSpPr>
        <p:spPr>
          <a:xfrm>
            <a:off x="6233008" y="2880360"/>
            <a:ext cx="5410048" cy="1645920"/>
          </a:xfrm>
          <a:prstGeom prst="roundRect">
            <a:avLst>
              <a:gd name="adj" fmla="val 6667"/>
            </a:avLst>
          </a:prstGeom>
          <a:solidFill>
            <a:srgbClr val="1B2433"/>
          </a:solidFill>
          <a:ln/>
        </p:spPr>
      </p:sp>
      <p:sp>
        <p:nvSpPr>
          <p:cNvPr id="12" name="right sql code"/>
          <p:cNvSpPr txBox="1"/>
          <p:nvPr/>
        </p:nvSpPr>
        <p:spPr>
          <a:xfrm>
            <a:off x="6461608" y="3063240"/>
            <a:ext cx="4952848" cy="1280160"/>
          </a:xfrm>
          <a:prstGeom prst="rect">
            <a:avLst/>
          </a:prstGeom>
          <a:noFill/>
          <a:ln/>
        </p:spPr>
        <p:txBody>
          <a:bodyPr wrap="square" lIns="0" tIns="0" rIns="0" bIns="0" rtlCol="0" anchor="t"/>
          <a:lstStyle/>
          <a:p>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SELECT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F6C56E"/>
                </a:solidFill>
                <a:latin typeface="Courier New" pitchFamily="34" charset="0"/>
                <a:ea typeface="Courier New" pitchFamily="34" charset="-122"/>
                <a:cs typeface="Courier New" pitchFamily="34" charset="-120"/>
              </a:rPr>
              <a:t>COUNT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student_id</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F6C56E"/>
                </a:solidFill>
                <a:latin typeface="Courier New" pitchFamily="34" charset="0"/>
                <a:ea typeface="Courier New" pitchFamily="34" charset="-122"/>
                <a:cs typeface="Courier New" pitchFamily="34" charset="-120"/>
              </a:rPr>
              <a:t>AVG</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FROM</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enrollments</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JOIN</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courses</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a:t>
            </a:r>
            <a:endParaRPr lang="en-US" sz="1400" dirty="0"/>
          </a:p>
          <a:p>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USING</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course_id</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GROUP</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BY</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p:txBody>
      </p:sp>
      <p:sp>
        <p:nvSpPr>
          <p:cNvPr id="13" name="why card"/>
          <p:cNvSpPr/>
          <p:nvPr/>
        </p:nvSpPr>
        <p:spPr>
          <a:xfrm>
            <a:off x="6233008" y="4754880"/>
            <a:ext cx="5410048" cy="1188720"/>
          </a:xfrm>
          <a:prstGeom prst="roundRect">
            <a:avLst>
              <a:gd name="adj" fmla="val 9231"/>
            </a:avLst>
          </a:prstGeom>
          <a:solidFill>
            <a:srgbClr val="E3F2F3"/>
          </a:solidFill>
          <a:ln/>
          <a:effectLst>
            <a:outerShdw sx="100000" sy="100000" kx="0" ky="0" algn="bl" rotWithShape="0" blurRad="76200" dist="25400" dir="5400000">
              <a:srgbClr val="0E3B5C">
                <a:alpha val="12000"/>
              </a:srgbClr>
            </a:outerShdw>
          </a:effectLst>
        </p:spPr>
      </p:sp>
      <p:sp>
        <p:nvSpPr>
          <p:cNvPr id="14" name="why text"/>
          <p:cNvSpPr txBox="1"/>
          <p:nvPr/>
        </p:nvSpPr>
        <p:spPr>
          <a:xfrm>
            <a:off x="6461608" y="4773168"/>
            <a:ext cx="4952848" cy="1143000"/>
          </a:xfrm>
          <a:prstGeom prst="rect">
            <a:avLst/>
          </a:prstGeom>
          <a:noFill/>
          <a:ln/>
        </p:spPr>
        <p:txBody>
          <a:bodyPr wrap="square" lIns="0" tIns="0" rIns="0" bIns="0" rtlCol="0" anchor="ctr"/>
          <a:lstStyle/>
          <a:p>
            <a:pPr indent="0" marL="0">
              <a:buNone/>
            </a:pPr>
            <a:r>
              <a:rPr lang="en-US" sz="1400" dirty="0">
                <a:solidFill>
                  <a:srgbClr val="1B2433"/>
                </a:solidFill>
              </a:rPr>
              <a:t>A group of 5 rows has 5 different student_id values but only one output row — SQL cannot pick one, so the column must be grouped or aggregated.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Grouping by several columns</a:t>
            </a:r>
            <a:endParaRPr lang="en-US" sz="3200" dirty="0"/>
          </a:p>
        </p:txBody>
      </p:sp>
      <p:sp>
        <p:nvSpPr>
          <p:cNvPr id="3" name="multi sql panel"/>
          <p:cNvSpPr/>
          <p:nvPr/>
        </p:nvSpPr>
        <p:spPr>
          <a:xfrm>
            <a:off x="548640" y="1371600"/>
            <a:ext cx="5760720" cy="2286000"/>
          </a:xfrm>
          <a:prstGeom prst="roundRect">
            <a:avLst>
              <a:gd name="adj" fmla="val 4800"/>
            </a:avLst>
          </a:prstGeom>
          <a:solidFill>
            <a:srgbClr val="1B2433"/>
          </a:solidFill>
          <a:ln/>
        </p:spPr>
      </p:sp>
      <p:sp>
        <p:nvSpPr>
          <p:cNvPr id="4" name="multi sql code"/>
          <p:cNvSpPr txBox="1"/>
          <p:nvPr/>
        </p:nvSpPr>
        <p:spPr>
          <a:xfrm>
            <a:off x="777240" y="1554480"/>
            <a:ext cx="5303520" cy="1920240"/>
          </a:xfrm>
          <a:prstGeom prst="rect">
            <a:avLst/>
          </a:prstGeom>
          <a:noFill/>
          <a:ln/>
        </p:spPr>
        <p:txBody>
          <a:bodyPr wrap="square" lIns="0" tIns="0" rIns="0" bIns="0" rtlCol="0" anchor="t"/>
          <a:lstStyle/>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SELECT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name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group_name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has_scholarship</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COUNT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students</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FROM</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students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s</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JOIN</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groups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USING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group_id</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GROUP</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BY</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name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has_scholarship</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ORDER</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BY</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name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has_scholarship</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p:txBody>
      </p:sp>
      <p:graphicFrame>
        <p:nvGraphicFramePr>
          <p:cNvPr id="11" name="multi result"/>
          <p:cNvGraphicFramePr>
            <a:graphicFrameLocks noGrp="1"/>
          </p:cNvGraphicFramePr>
          <p:nvPr>
            <p:extLst>
              <p:ext uri="{D42A27DB-BD31-4B8C-83A1-F6EECF244321}">
                <p14:modId xmlns:p14="http://schemas.microsoft.com/office/powerpoint/2010/main" val="1579011935"/>
              </p:ext>
            </p:extLst>
          </p:nvPr>
        </p:nvGraphicFramePr>
        <p:xfrm>
          <a:off x="6675120" y="1371600"/>
          <a:ext cx="4937760" cy="914400"/>
        </p:xfrm>
        <a:graphic>
          <a:graphicData uri="http://schemas.openxmlformats.org/drawingml/2006/table">
            <a:tbl>
              <a:tblPr/>
              <a:tblGrid>
                <a:gridCol w="2011680"/>
                <a:gridCol w="1783080"/>
                <a:gridCol w="1143000"/>
              </a:tblGrid>
              <a:tr h="329184">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group_name</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has_scholarship</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students</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r>
              <a:tr h="329184">
                <a:tc>
                  <a:txBody>
                    <a:bodyPr/>
                    <a:lstStyle/>
                    <a:p>
                      <a:pPr algn="l" indent="0" marL="0">
                        <a:buNone/>
                      </a:pPr>
                      <a:r>
                        <a:rPr lang="en-US" sz="1500" dirty="0">
                          <a:solidFill>
                            <a:srgbClr val="1B2433"/>
                          </a:solidFill>
                        </a:rPr>
                        <a:t>ECON-2501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433"/>
                          </a:solidFill>
                        </a:rPr>
                        <a:t>false</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ECON-2501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433"/>
                          </a:solidFill>
                        </a:rPr>
                        <a:t>true</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SIS-2401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433"/>
                          </a:solidFill>
                        </a:rPr>
                        <a:t>false</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SIS-2401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433"/>
                          </a:solidFill>
                        </a:rPr>
                        <a:t>true</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SISCCO-2502NS</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433"/>
                          </a:solidFill>
                        </a:rPr>
                        <a:t>false</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2</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SISCCO-2502NS</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433"/>
                          </a:solidFill>
                        </a:rPr>
                        <a:t>true</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bl>
          </a:graphicData>
        </a:graphic>
      </p:graphicFrame>
      <p:sp>
        <p:nvSpPr>
          <p:cNvPr id="6" name="multi note"/>
          <p:cNvSpPr/>
          <p:nvPr/>
        </p:nvSpPr>
        <p:spPr>
          <a:xfrm>
            <a:off x="548640" y="3977640"/>
            <a:ext cx="5760720" cy="1691640"/>
          </a:xfrm>
          <a:prstGeom prst="roundRect">
            <a:avLst>
              <a:gd name="adj" fmla="val 6486"/>
            </a:avLst>
          </a:prstGeom>
          <a:solidFill>
            <a:srgbClr val="EEF3F7"/>
          </a:solidFill>
          <a:ln/>
          <a:effectLst>
            <a:outerShdw sx="100000" sy="100000" kx="0" ky="0" algn="bl" rotWithShape="0" blurRad="76200" dist="25400" dir="5400000">
              <a:srgbClr val="0E3B5C">
                <a:alpha val="12000"/>
              </a:srgbClr>
            </a:outerShdw>
          </a:effectLst>
        </p:spPr>
      </p:sp>
      <p:sp>
        <p:nvSpPr>
          <p:cNvPr id="7" name="multi note text"/>
          <p:cNvSpPr txBox="1"/>
          <p:nvPr/>
        </p:nvSpPr>
        <p:spPr>
          <a:xfrm>
            <a:off x="822960" y="4087368"/>
            <a:ext cx="5212080" cy="1463040"/>
          </a:xfrm>
          <a:prstGeom prst="rect">
            <a:avLst/>
          </a:prstGeom>
          <a:noFill/>
          <a:ln/>
        </p:spPr>
        <p:txBody>
          <a:bodyPr wrap="square" lIns="0" tIns="0" rIns="0" bIns="0" rtlCol="0" anchor="ctr"/>
          <a:lstStyle/>
          <a:p>
            <a:pPr indent="0" marL="0">
              <a:spcAft>
                <a:spcPts val="600"/>
              </a:spcAft>
              <a:buNone/>
            </a:pPr>
            <a:r>
              <a:rPr lang="en-US" sz="1600" b="1" dirty="0">
                <a:solidFill>
                  <a:srgbClr val="0E3B5C"/>
                </a:solidFill>
              </a:rPr>
              <a:t>One output row for every distinct combination </a:t>
            </a:r>
            <a:endParaRPr lang="en-US" sz="1600" dirty="0"/>
          </a:p>
          <a:p>
            <a:pPr indent="0" marL="0">
              <a:spcAft>
                <a:spcPts val="600"/>
              </a:spcAft>
              <a:buNone/>
            </a:pPr>
            <a:r>
              <a:rPr lang="en-US" sz="1600" dirty="0">
                <a:solidFill>
                  <a:srgbClr val="1B2433"/>
                </a:solidFill>
              </a:rPr>
              <a:t>of the grouped columns: 3 groups × 2 scholarship values = 6 rows. The 7 students of the table are spread across them.</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WHERE vs HAVING</a:t>
            </a:r>
            <a:endParaRPr lang="en-US" sz="3200" dirty="0"/>
          </a:p>
        </p:txBody>
      </p:sp>
      <p:sp>
        <p:nvSpPr>
          <p:cNvPr id="3" name="WHERE card"/>
          <p:cNvSpPr/>
          <p:nvPr/>
        </p:nvSpPr>
        <p:spPr>
          <a:xfrm>
            <a:off x="548640" y="1371600"/>
            <a:ext cx="5410048" cy="4343400"/>
          </a:xfrm>
          <a:prstGeom prst="roundRect">
            <a:avLst>
              <a:gd name="adj" fmla="val 2526"/>
            </a:avLst>
          </a:prstGeom>
          <a:solidFill>
            <a:srgbClr val="E3F2F3"/>
          </a:solidFill>
          <a:ln/>
          <a:effectLst>
            <a:outerShdw sx="100000" sy="100000" kx="0" ky="0" algn="bl" rotWithShape="0" blurRad="76200" dist="25400" dir="5400000">
              <a:srgbClr val="0E3B5C">
                <a:alpha val="12000"/>
              </a:srgbClr>
            </a:outerShdw>
          </a:effectLst>
        </p:spPr>
      </p:sp>
      <p:sp>
        <p:nvSpPr>
          <p:cNvPr id="4" name="WHERE kw"/>
          <p:cNvSpPr txBox="1"/>
          <p:nvPr/>
        </p:nvSpPr>
        <p:spPr>
          <a:xfrm>
            <a:off x="868680" y="1554480"/>
            <a:ext cx="4769968" cy="548640"/>
          </a:xfrm>
          <a:prstGeom prst="rect">
            <a:avLst/>
          </a:prstGeom>
          <a:noFill/>
          <a:ln/>
        </p:spPr>
        <p:txBody>
          <a:bodyPr wrap="square" lIns="0" tIns="0" rIns="0" bIns="0" rtlCol="0" anchor="t"/>
          <a:lstStyle/>
          <a:p>
            <a:pPr indent="0" marL="0">
              <a:buNone/>
            </a:pPr>
            <a:r>
              <a:rPr lang="en-US" sz="3000" b="1" dirty="0">
                <a:solidFill>
                  <a:srgbClr val="1F8A99"/>
                </a:solidFill>
                <a:latin typeface="Courier New" pitchFamily="34" charset="0"/>
                <a:ea typeface="Courier New" pitchFamily="34" charset="-122"/>
                <a:cs typeface="Courier New" pitchFamily="34" charset="-120"/>
              </a:rPr>
              <a:t>WHERE</a:t>
            </a:r>
            <a:endParaRPr lang="en-US" sz="3000" dirty="0"/>
          </a:p>
        </p:txBody>
      </p:sp>
      <p:sp>
        <p:nvSpPr>
          <p:cNvPr id="5" name="WHERE what"/>
          <p:cNvSpPr txBox="1"/>
          <p:nvPr/>
        </p:nvSpPr>
        <p:spPr>
          <a:xfrm>
            <a:off x="868680" y="2148840"/>
            <a:ext cx="4769968" cy="411480"/>
          </a:xfrm>
          <a:prstGeom prst="rect">
            <a:avLst/>
          </a:prstGeom>
          <a:noFill/>
          <a:ln/>
        </p:spPr>
        <p:txBody>
          <a:bodyPr wrap="square" lIns="0" tIns="0" rIns="0" bIns="0" rtlCol="0" anchor="t"/>
          <a:lstStyle/>
          <a:p>
            <a:pPr indent="0" marL="0">
              <a:buNone/>
            </a:pPr>
            <a:r>
              <a:rPr lang="en-US" sz="1900" b="1" dirty="0">
                <a:solidFill>
                  <a:srgbClr val="1B2433"/>
                </a:solidFill>
              </a:rPr>
              <a:t>filters individual rows</a:t>
            </a:r>
            <a:endParaRPr lang="en-US" sz="1900" dirty="0"/>
          </a:p>
        </p:txBody>
      </p:sp>
      <p:sp>
        <p:nvSpPr>
          <p:cNvPr id="6" name="WHERE pts"/>
          <p:cNvSpPr txBox="1"/>
          <p:nvPr/>
        </p:nvSpPr>
        <p:spPr>
          <a:xfrm>
            <a:off x="868680" y="2697480"/>
            <a:ext cx="4769968"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2433"/>
                </a:solidFill>
              </a:rPr>
              <a:t>runs before GROUP BY</a:t>
            </a:r>
            <a:endParaRPr lang="en-US" sz="1600" dirty="0"/>
          </a:p>
          <a:p>
            <a:pPr marL="342900" indent="-342900">
              <a:spcAft>
                <a:spcPts val="800"/>
              </a:spcAft>
              <a:buSzPct val="100000"/>
              <a:buChar char="•"/>
            </a:pPr>
            <a:r>
              <a:rPr lang="en-US" sz="1600" dirty="0">
                <a:solidFill>
                  <a:srgbClr val="1B2433"/>
                </a:solidFill>
              </a:rPr>
              <a:t>cannot use aggregate functions</a:t>
            </a:r>
            <a:endParaRPr lang="en-US" sz="1600" dirty="0"/>
          </a:p>
          <a:p>
            <a:pPr marL="342900" indent="-342900">
              <a:spcAft>
                <a:spcPts val="800"/>
              </a:spcAft>
              <a:buSzPct val="100000"/>
              <a:buChar char="•"/>
            </a:pPr>
            <a:r>
              <a:rPr lang="en-US" sz="1600" dirty="0">
                <a:solidFill>
                  <a:srgbClr val="1B2433"/>
                </a:solidFill>
              </a:rPr>
              <a:t>example: WHERE semester_id = 3</a:t>
            </a:r>
            <a:endParaRPr lang="en-US" sz="1600" dirty="0"/>
          </a:p>
        </p:txBody>
      </p:sp>
      <p:sp>
        <p:nvSpPr>
          <p:cNvPr id="7" name="WHERE snippet panel"/>
          <p:cNvSpPr/>
          <p:nvPr/>
        </p:nvSpPr>
        <p:spPr>
          <a:xfrm>
            <a:off x="868680" y="4114800"/>
            <a:ext cx="4769968" cy="658368"/>
          </a:xfrm>
          <a:prstGeom prst="roundRect">
            <a:avLst>
              <a:gd name="adj" fmla="val 16667"/>
            </a:avLst>
          </a:prstGeom>
          <a:solidFill>
            <a:srgbClr val="1B2433"/>
          </a:solidFill>
          <a:ln/>
        </p:spPr>
      </p:sp>
      <p:sp>
        <p:nvSpPr>
          <p:cNvPr id="8" name="WHERE snippet code"/>
          <p:cNvSpPr txBox="1"/>
          <p:nvPr/>
        </p:nvSpPr>
        <p:spPr>
          <a:xfrm>
            <a:off x="1097280" y="4297680"/>
            <a:ext cx="4312768" cy="292608"/>
          </a:xfrm>
          <a:prstGeom prst="rect">
            <a:avLst/>
          </a:prstGeom>
          <a:noFill/>
          <a:ln/>
        </p:spPr>
        <p:txBody>
          <a:bodyPr wrap="square" lIns="0" tIns="0" rIns="0" bIns="0" rtlCol="0" anchor="t"/>
          <a:lstStyle/>
          <a:p>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WHERE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F6C56E"/>
                </a:solidFill>
                <a:latin typeface="Courier New" pitchFamily="34" charset="0"/>
                <a:ea typeface="Courier New" pitchFamily="34" charset="-122"/>
                <a:cs typeface="Courier New" pitchFamily="34" charset="-120"/>
              </a:rPr>
              <a:t>AVG</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&gt;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B8E0A8"/>
                </a:solidFill>
                <a:latin typeface="Courier New" pitchFamily="34" charset="0"/>
                <a:ea typeface="Courier New" pitchFamily="34" charset="-122"/>
                <a:cs typeface="Courier New" pitchFamily="34" charset="-120"/>
              </a:rPr>
              <a:t>80</a:t>
            </a:r>
            <a:endParaRPr lang="en-US" sz="1400" dirty="0"/>
          </a:p>
        </p:txBody>
      </p:sp>
      <p:sp>
        <p:nvSpPr>
          <p:cNvPr id="9" name="WHERE res"/>
          <p:cNvSpPr txBox="1"/>
          <p:nvPr/>
        </p:nvSpPr>
        <p:spPr>
          <a:xfrm>
            <a:off x="868680" y="4919472"/>
            <a:ext cx="4769968" cy="685800"/>
          </a:xfrm>
          <a:prstGeom prst="rect">
            <a:avLst/>
          </a:prstGeom>
          <a:noFill/>
          <a:ln/>
        </p:spPr>
        <p:txBody>
          <a:bodyPr wrap="square" lIns="0" tIns="0" rIns="0" bIns="0" rtlCol="0" anchor="t"/>
          <a:lstStyle/>
          <a:p>
            <a:pPr indent="0" marL="0">
              <a:buNone/>
            </a:pPr>
            <a:r>
              <a:rPr lang="en-US" sz="1400" i="1" dirty="0">
                <a:solidFill>
                  <a:srgbClr val="C8553D"/>
                </a:solidFill>
              </a:rPr>
              <a:t>ERROR: aggregate functions are not allowed in WHERE</a:t>
            </a:r>
            <a:endParaRPr lang="en-US" sz="1400" dirty="0"/>
          </a:p>
        </p:txBody>
      </p:sp>
      <p:sp>
        <p:nvSpPr>
          <p:cNvPr id="10" name="HAVING card"/>
          <p:cNvSpPr/>
          <p:nvPr/>
        </p:nvSpPr>
        <p:spPr>
          <a:xfrm>
            <a:off x="6233008" y="1371600"/>
            <a:ext cx="5410048" cy="4343400"/>
          </a:xfrm>
          <a:prstGeom prst="roundRect">
            <a:avLst>
              <a:gd name="adj" fmla="val 2526"/>
            </a:avLst>
          </a:prstGeom>
          <a:solidFill>
            <a:srgbClr val="FFF6E6"/>
          </a:solidFill>
          <a:ln/>
          <a:effectLst>
            <a:outerShdw sx="100000" sy="100000" kx="0" ky="0" algn="bl" rotWithShape="0" blurRad="76200" dist="25400" dir="5400000">
              <a:srgbClr val="0E3B5C">
                <a:alpha val="12000"/>
              </a:srgbClr>
            </a:outerShdw>
          </a:effectLst>
        </p:spPr>
      </p:sp>
      <p:sp>
        <p:nvSpPr>
          <p:cNvPr id="11" name="HAVING kw"/>
          <p:cNvSpPr txBox="1"/>
          <p:nvPr/>
        </p:nvSpPr>
        <p:spPr>
          <a:xfrm>
            <a:off x="6553048" y="1554480"/>
            <a:ext cx="4769968" cy="548640"/>
          </a:xfrm>
          <a:prstGeom prst="rect">
            <a:avLst/>
          </a:prstGeom>
          <a:noFill/>
          <a:ln/>
        </p:spPr>
        <p:txBody>
          <a:bodyPr wrap="square" lIns="0" tIns="0" rIns="0" bIns="0" rtlCol="0" anchor="t"/>
          <a:lstStyle/>
          <a:p>
            <a:pPr indent="0" marL="0">
              <a:buNone/>
            </a:pPr>
            <a:r>
              <a:rPr lang="en-US" sz="3000" b="1" dirty="0">
                <a:solidFill>
                  <a:srgbClr val="B7791F"/>
                </a:solidFill>
                <a:latin typeface="Courier New" pitchFamily="34" charset="0"/>
                <a:ea typeface="Courier New" pitchFamily="34" charset="-122"/>
                <a:cs typeface="Courier New" pitchFamily="34" charset="-120"/>
              </a:rPr>
              <a:t>HAVING</a:t>
            </a:r>
            <a:endParaRPr lang="en-US" sz="3000" dirty="0"/>
          </a:p>
        </p:txBody>
      </p:sp>
      <p:sp>
        <p:nvSpPr>
          <p:cNvPr id="12" name="HAVING what"/>
          <p:cNvSpPr txBox="1"/>
          <p:nvPr/>
        </p:nvSpPr>
        <p:spPr>
          <a:xfrm>
            <a:off x="6553048" y="2148840"/>
            <a:ext cx="4769968" cy="411480"/>
          </a:xfrm>
          <a:prstGeom prst="rect">
            <a:avLst/>
          </a:prstGeom>
          <a:noFill/>
          <a:ln/>
        </p:spPr>
        <p:txBody>
          <a:bodyPr wrap="square" lIns="0" tIns="0" rIns="0" bIns="0" rtlCol="0" anchor="t"/>
          <a:lstStyle/>
          <a:p>
            <a:pPr indent="0" marL="0">
              <a:buNone/>
            </a:pPr>
            <a:r>
              <a:rPr lang="en-US" sz="1900" b="1" dirty="0">
                <a:solidFill>
                  <a:srgbClr val="1B2433"/>
                </a:solidFill>
              </a:rPr>
              <a:t>filters whole groups</a:t>
            </a:r>
            <a:endParaRPr lang="en-US" sz="1900" dirty="0"/>
          </a:p>
        </p:txBody>
      </p:sp>
      <p:sp>
        <p:nvSpPr>
          <p:cNvPr id="13" name="HAVING pts"/>
          <p:cNvSpPr txBox="1"/>
          <p:nvPr/>
        </p:nvSpPr>
        <p:spPr>
          <a:xfrm>
            <a:off x="6553048" y="2697480"/>
            <a:ext cx="4769968"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2433"/>
                </a:solidFill>
              </a:rPr>
              <a:t>runs after GROUP BY</a:t>
            </a:r>
            <a:endParaRPr lang="en-US" sz="1600" dirty="0"/>
          </a:p>
          <a:p>
            <a:pPr marL="342900" indent="-342900">
              <a:spcAft>
                <a:spcPts val="800"/>
              </a:spcAft>
              <a:buSzPct val="100000"/>
              <a:buChar char="•"/>
            </a:pPr>
            <a:r>
              <a:rPr lang="en-US" sz="1600" dirty="0">
                <a:solidFill>
                  <a:srgbClr val="1B2433"/>
                </a:solidFill>
              </a:rPr>
              <a:t>usually contains an aggregate</a:t>
            </a:r>
            <a:endParaRPr lang="en-US" sz="1600" dirty="0"/>
          </a:p>
          <a:p>
            <a:pPr marL="342900" indent="-342900">
              <a:spcAft>
                <a:spcPts val="800"/>
              </a:spcAft>
              <a:buSzPct val="100000"/>
              <a:buChar char="•"/>
            </a:pPr>
            <a:r>
              <a:rPr lang="en-US" sz="1600" dirty="0">
                <a:solidFill>
                  <a:srgbClr val="1B2433"/>
                </a:solidFill>
              </a:rPr>
              <a:t>example: HAVING AVG(grade) &gt; 80</a:t>
            </a:r>
            <a:endParaRPr lang="en-US" sz="1600" dirty="0"/>
          </a:p>
        </p:txBody>
      </p:sp>
      <p:sp>
        <p:nvSpPr>
          <p:cNvPr id="14" name="HAVING snippet panel"/>
          <p:cNvSpPr/>
          <p:nvPr/>
        </p:nvSpPr>
        <p:spPr>
          <a:xfrm>
            <a:off x="6553048" y="4114800"/>
            <a:ext cx="4769968" cy="658368"/>
          </a:xfrm>
          <a:prstGeom prst="roundRect">
            <a:avLst>
              <a:gd name="adj" fmla="val 16667"/>
            </a:avLst>
          </a:prstGeom>
          <a:solidFill>
            <a:srgbClr val="1B2433"/>
          </a:solidFill>
          <a:ln/>
        </p:spPr>
      </p:sp>
      <p:sp>
        <p:nvSpPr>
          <p:cNvPr id="15" name="HAVING snippet code"/>
          <p:cNvSpPr txBox="1"/>
          <p:nvPr/>
        </p:nvSpPr>
        <p:spPr>
          <a:xfrm>
            <a:off x="6781648" y="4297680"/>
            <a:ext cx="4312768" cy="292608"/>
          </a:xfrm>
          <a:prstGeom prst="rect">
            <a:avLst/>
          </a:prstGeom>
          <a:noFill/>
          <a:ln/>
        </p:spPr>
        <p:txBody>
          <a:bodyPr wrap="square" lIns="0" tIns="0" rIns="0" bIns="0" rtlCol="0" anchor="t"/>
          <a:lstStyle/>
          <a:p>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HAVING</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F6C56E"/>
                </a:solidFill>
                <a:latin typeface="Courier New" pitchFamily="34" charset="0"/>
                <a:ea typeface="Courier New" pitchFamily="34" charset="-122"/>
                <a:cs typeface="Courier New" pitchFamily="34" charset="-120"/>
              </a:rPr>
              <a:t>AVG</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&gt;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B8E0A8"/>
                </a:solidFill>
                <a:latin typeface="Courier New" pitchFamily="34" charset="0"/>
                <a:ea typeface="Courier New" pitchFamily="34" charset="-122"/>
                <a:cs typeface="Courier New" pitchFamily="34" charset="-120"/>
              </a:rPr>
              <a:t>80</a:t>
            </a:r>
            <a:endParaRPr lang="en-US" sz="1400" dirty="0"/>
          </a:p>
        </p:txBody>
      </p:sp>
      <p:sp>
        <p:nvSpPr>
          <p:cNvPr id="16" name="HAVING res"/>
          <p:cNvSpPr txBox="1"/>
          <p:nvPr/>
        </p:nvSpPr>
        <p:spPr>
          <a:xfrm>
            <a:off x="6553048" y="4919472"/>
            <a:ext cx="4769968" cy="685800"/>
          </a:xfrm>
          <a:prstGeom prst="rect">
            <a:avLst/>
          </a:prstGeom>
          <a:noFill/>
          <a:ln/>
        </p:spPr>
        <p:txBody>
          <a:bodyPr wrap="square" lIns="0" tIns="0" rIns="0" bIns="0" rtlCol="0" anchor="t"/>
          <a:lstStyle/>
          <a:p>
            <a:pPr indent="0" marL="0">
              <a:buNone/>
            </a:pPr>
            <a:r>
              <a:rPr lang="en-US" sz="1400" i="1" dirty="0">
                <a:solidFill>
                  <a:srgbClr val="1B2433"/>
                </a:solidFill>
              </a:rPr>
              <a:t>keeps only groups whose average is above 80</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WHERE and HAVING in one query</a:t>
            </a:r>
            <a:endParaRPr lang="en-US" sz="3200" dirty="0"/>
          </a:p>
        </p:txBody>
      </p:sp>
      <p:sp>
        <p:nvSpPr>
          <p:cNvPr id="3" name="having sql panel"/>
          <p:cNvSpPr/>
          <p:nvPr/>
        </p:nvSpPr>
        <p:spPr>
          <a:xfrm>
            <a:off x="548640" y="1371600"/>
            <a:ext cx="5760720" cy="2514600"/>
          </a:xfrm>
          <a:prstGeom prst="roundRect">
            <a:avLst>
              <a:gd name="adj" fmla="val 4364"/>
            </a:avLst>
          </a:prstGeom>
          <a:solidFill>
            <a:srgbClr val="1B2433"/>
          </a:solidFill>
          <a:ln/>
        </p:spPr>
      </p:sp>
      <p:sp>
        <p:nvSpPr>
          <p:cNvPr id="4" name="having sql code"/>
          <p:cNvSpPr txBox="1"/>
          <p:nvPr/>
        </p:nvSpPr>
        <p:spPr>
          <a:xfrm>
            <a:off x="777240" y="1554480"/>
            <a:ext cx="5303520" cy="2148840"/>
          </a:xfrm>
          <a:prstGeom prst="rect">
            <a:avLst/>
          </a:prstGeom>
          <a:noFill/>
          <a:ln/>
        </p:spPr>
        <p:txBody>
          <a:bodyPr wrap="square" lIns="0" tIns="0" rIns="0" bIns="0" rtlCol="0" anchor="t"/>
          <a:lstStyle/>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SELECT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course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ROUND</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AVG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B8E0A8"/>
                </a:solidFill>
                <a:latin typeface="Courier New" pitchFamily="34" charset="0"/>
                <a:ea typeface="Courier New" pitchFamily="34" charset="-122"/>
                <a:cs typeface="Courier New" pitchFamily="34" charset="-120"/>
              </a:rPr>
              <a:t>1</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AS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avg_grade</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FROM</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enrollments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JOIN</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courses</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USING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course_id</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WHERE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semester_id</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B8E0A8"/>
                </a:solidFill>
                <a:latin typeface="Courier New" pitchFamily="34" charset="0"/>
                <a:ea typeface="Courier New" pitchFamily="34" charset="-122"/>
                <a:cs typeface="Courier New" pitchFamily="34" charset="-120"/>
              </a:rPr>
              <a:t>3</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i="1" dirty="0">
                <a:solidFill>
                  <a:srgbClr val="8FA1B3"/>
                </a:solidFill>
                <a:latin typeface="Courier New" pitchFamily="34" charset="0"/>
                <a:ea typeface="Courier New" pitchFamily="34" charset="-122"/>
                <a:cs typeface="Courier New" pitchFamily="34" charset="-120"/>
              </a:rPr>
              <a:t>-- Fall 2025</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GROUP</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BY</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code</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HAVING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F6C56E"/>
                </a:solidFill>
                <a:latin typeface="Courier New" pitchFamily="34" charset="0"/>
                <a:ea typeface="Courier New" pitchFamily="34" charset="-122"/>
                <a:cs typeface="Courier New" pitchFamily="34" charset="-120"/>
              </a:rPr>
              <a:t>AVG</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&gt;</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B8E0A8"/>
                </a:solidFill>
                <a:latin typeface="Courier New" pitchFamily="34" charset="0"/>
                <a:ea typeface="Courier New" pitchFamily="34" charset="-122"/>
                <a:cs typeface="Courier New" pitchFamily="34" charset="-120"/>
              </a:rPr>
              <a:t>80</a:t>
            </a:r>
            <a:endParaRPr lang="en-US" sz="1500" dirty="0"/>
          </a:p>
          <a:p>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ORDER</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BY</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avg_grade</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500" b="1" dirty="0">
                <a:solidFill>
                  <a:srgbClr val="7FD1DD"/>
                </a:solidFill>
                <a:latin typeface="Courier New" pitchFamily="34" charset="0"/>
                <a:ea typeface="Courier New" pitchFamily="34" charset="-122"/>
                <a:cs typeface="Courier New" pitchFamily="34" charset="-120"/>
              </a:rPr>
              <a:t>DESC</a:t>
            </a:r>
            <a:pPr indent="0" marL="0">
              <a:lnSpc>
                <a:spcPct val="115000"/>
              </a:lnSpc>
              <a:buNone/>
            </a:pPr>
            <a:r>
              <a:rPr lang="en-US" sz="1500" dirty="0">
                <a:solidFill>
                  <a:srgbClr val="E8EDF2"/>
                </a:solidFill>
                <a:latin typeface="Courier New" pitchFamily="34" charset="0"/>
                <a:ea typeface="Courier New" pitchFamily="34" charset="-122"/>
                <a:cs typeface="Courier New" pitchFamily="34" charset="-120"/>
              </a:rPr>
              <a:t>;</a:t>
            </a:r>
            <a:endParaRPr lang="en-US" sz="1500" dirty="0"/>
          </a:p>
        </p:txBody>
      </p:sp>
      <p:sp>
        <p:nvSpPr>
          <p:cNvPr id="5" name="step1 label"/>
          <p:cNvSpPr txBox="1"/>
          <p:nvPr/>
        </p:nvSpPr>
        <p:spPr>
          <a:xfrm>
            <a:off x="6675120" y="1371600"/>
            <a:ext cx="4937760" cy="320040"/>
          </a:xfrm>
          <a:prstGeom prst="rect">
            <a:avLst/>
          </a:prstGeom>
          <a:noFill/>
          <a:ln/>
        </p:spPr>
        <p:txBody>
          <a:bodyPr wrap="square" lIns="0" tIns="0" rIns="0" bIns="0" rtlCol="0" anchor="t"/>
          <a:lstStyle/>
          <a:p>
            <a:pPr indent="0" marL="0">
              <a:buNone/>
            </a:pPr>
            <a:r>
              <a:rPr lang="en-US" sz="1400" b="1" dirty="0">
                <a:solidFill>
                  <a:srgbClr val="5B6B78"/>
                </a:solidFill>
              </a:rPr>
              <a:t>1. After WHERE + GROUP BY</a:t>
            </a:r>
            <a:endParaRPr lang="en-US" sz="1400" dirty="0"/>
          </a:p>
        </p:txBody>
      </p:sp>
      <p:graphicFrame>
        <p:nvGraphicFramePr>
          <p:cNvPr id="13" name="having before"/>
          <p:cNvGraphicFramePr>
            <a:graphicFrameLocks noGrp="1"/>
          </p:cNvGraphicFramePr>
          <p:nvPr>
            <p:extLst>
              <p:ext uri="{D42A27DB-BD31-4B8C-83A1-F6EECF244321}">
                <p14:modId xmlns:p14="http://schemas.microsoft.com/office/powerpoint/2010/main" val="1579011935"/>
              </p:ext>
            </p:extLst>
          </p:nvPr>
        </p:nvGraphicFramePr>
        <p:xfrm>
          <a:off x="6675120" y="1737360"/>
          <a:ext cx="4937760" cy="914400"/>
        </p:xfrm>
        <a:graphic>
          <a:graphicData uri="http://schemas.openxmlformats.org/drawingml/2006/table">
            <a:tbl>
              <a:tblPr/>
              <a:tblGrid>
                <a:gridCol w="2468880"/>
                <a:gridCol w="2468880"/>
              </a:tblGrid>
              <a:tr h="329184">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course</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avg_grade</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r>
              <a:tr h="329184">
                <a:tc>
                  <a:txBody>
                    <a:bodyPr/>
                    <a:lstStyle/>
                    <a:p>
                      <a:pPr algn="l" indent="0" marL="0">
                        <a:buNone/>
                      </a:pPr>
                      <a:r>
                        <a:rPr lang="en-US" sz="1500" dirty="0">
                          <a:solidFill>
                            <a:srgbClr val="1B2433"/>
                          </a:solidFill>
                        </a:rPr>
                        <a:t>ECON1101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86.0</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DBMS2101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84.0</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PROG1101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75.7</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bl>
          </a:graphicData>
        </a:graphic>
      </p:graphicFrame>
      <p:sp>
        <p:nvSpPr>
          <p:cNvPr id="7" name="step2 label"/>
          <p:cNvSpPr txBox="1"/>
          <p:nvPr/>
        </p:nvSpPr>
        <p:spPr>
          <a:xfrm>
            <a:off x="6675120" y="3291840"/>
            <a:ext cx="4937760" cy="320040"/>
          </a:xfrm>
          <a:prstGeom prst="rect">
            <a:avLst/>
          </a:prstGeom>
          <a:noFill/>
          <a:ln/>
        </p:spPr>
        <p:txBody>
          <a:bodyPr wrap="square" lIns="0" tIns="0" rIns="0" bIns="0" rtlCol="0" anchor="t"/>
          <a:lstStyle/>
          <a:p>
            <a:pPr indent="0" marL="0">
              <a:buNone/>
            </a:pPr>
            <a:r>
              <a:rPr lang="en-US" sz="1400" b="1" dirty="0">
                <a:solidFill>
                  <a:srgbClr val="5B6B78"/>
                </a:solidFill>
              </a:rPr>
              <a:t>2. After HAVING AVG(grade) &gt; 80</a:t>
            </a:r>
            <a:endParaRPr lang="en-US" sz="1400" dirty="0"/>
          </a:p>
        </p:txBody>
      </p:sp>
      <p:graphicFrame>
        <p:nvGraphicFramePr>
          <p:cNvPr id="25" name="having after"/>
          <p:cNvGraphicFramePr>
            <a:graphicFrameLocks noGrp="1"/>
          </p:cNvGraphicFramePr>
          <p:nvPr>
            <p:extLst>
              <p:ext uri="{D42A27DB-BD31-4B8C-83A1-F6EECF244321}">
                <p14:modId xmlns:p14="http://schemas.microsoft.com/office/powerpoint/2010/main" val="1579011935"/>
              </p:ext>
            </p:extLst>
          </p:nvPr>
        </p:nvGraphicFramePr>
        <p:xfrm>
          <a:off x="6675120" y="3657600"/>
          <a:ext cx="4937760" cy="914400"/>
        </p:xfrm>
        <a:graphic>
          <a:graphicData uri="http://schemas.openxmlformats.org/drawingml/2006/table">
            <a:tbl>
              <a:tblPr/>
              <a:tblGrid>
                <a:gridCol w="2468880"/>
                <a:gridCol w="2468880"/>
              </a:tblGrid>
              <a:tr h="329184">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course</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c>
                  <a:txBody>
                    <a:bodyPr/>
                    <a:lstStyle/>
                    <a:p>
                      <a:pPr indent="0" marL="0">
                        <a:buNone/>
                      </a:pPr>
                      <a:r>
                        <a:rPr lang="en-US" sz="1400" b="1" dirty="0">
                          <a:solidFill>
                            <a:srgbClr val="FFFFFF"/>
                          </a:solidFill>
                          <a:latin typeface="Courier New" pitchFamily="34" charset="0"/>
                          <a:ea typeface="Courier New" pitchFamily="34" charset="-122"/>
                          <a:cs typeface="Courier New" pitchFamily="34" charset="-120"/>
                        </a:rPr>
                        <a:t>avg_grade</a:t>
                      </a:r>
                      <a:endParaRPr lang="en-US" sz="1400" dirty="0">
                        <a:latin typeface="Courier New" charset="0"/>
                        <a:ea typeface="Courier New" charset="0"/>
                        <a:cs typeface="Courier New" charset="0"/>
                      </a:endParaRPr>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E3B5C"/>
                    </a:solidFill>
                  </a:tcPr>
                </a:tc>
              </a:tr>
              <a:tr h="329184">
                <a:tc>
                  <a:txBody>
                    <a:bodyPr/>
                    <a:lstStyle/>
                    <a:p>
                      <a:pPr algn="l" indent="0" marL="0">
                        <a:buNone/>
                      </a:pPr>
                      <a:r>
                        <a:rPr lang="en-US" sz="1500" dirty="0">
                          <a:solidFill>
                            <a:srgbClr val="1B2433"/>
                          </a:solidFill>
                        </a:rPr>
                        <a:t>ECON1101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86.0</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1B2433"/>
                          </a:solidFill>
                        </a:rPr>
                        <a:t>DBMS2101</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433"/>
                          </a:solidFill>
                        </a:rPr>
                        <a:t>84.0</a:t>
                      </a:r>
                      <a:endParaRPr lang="en-US" sz="1500" dirty="0"/>
                    </a:p>
                  </a:txBody>
                  <a:tcPr marL="91440" marR="91440" marT="36576" marB="36576"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bl>
          </a:graphicData>
        </a:graphic>
      </p:graphicFrame>
      <p:sp>
        <p:nvSpPr>
          <p:cNvPr id="9" name="having note"/>
          <p:cNvSpPr/>
          <p:nvPr/>
        </p:nvSpPr>
        <p:spPr>
          <a:xfrm>
            <a:off x="548640" y="4206240"/>
            <a:ext cx="5760720" cy="1463040"/>
          </a:xfrm>
          <a:prstGeom prst="roundRect">
            <a:avLst>
              <a:gd name="adj" fmla="val 7500"/>
            </a:avLst>
          </a:prstGeom>
          <a:solidFill>
            <a:srgbClr val="EEF3F7"/>
          </a:solidFill>
          <a:ln/>
          <a:effectLst>
            <a:outerShdw sx="100000" sy="100000" kx="0" ky="0" algn="bl" rotWithShape="0" blurRad="76200" dist="25400" dir="5400000">
              <a:srgbClr val="0E3B5C">
                <a:alpha val="12000"/>
              </a:srgbClr>
            </a:outerShdw>
          </a:effectLst>
        </p:spPr>
      </p:sp>
      <p:sp>
        <p:nvSpPr>
          <p:cNvPr id="10" name="having note text"/>
          <p:cNvSpPr txBox="1"/>
          <p:nvPr/>
        </p:nvSpPr>
        <p:spPr>
          <a:xfrm>
            <a:off x="822960" y="4270248"/>
            <a:ext cx="5212080" cy="1325880"/>
          </a:xfrm>
          <a:prstGeom prst="rect">
            <a:avLst/>
          </a:prstGeom>
          <a:noFill/>
          <a:ln/>
        </p:spPr>
        <p:txBody>
          <a:bodyPr wrap="square" lIns="0" tIns="0" rIns="0" bIns="0" rtlCol="0" anchor="ctr"/>
          <a:lstStyle/>
          <a:p>
            <a:pPr indent="0" marL="0">
              <a:buNone/>
            </a:pPr>
            <a:r>
              <a:rPr lang="en-US" sz="1600" dirty="0">
                <a:solidFill>
                  <a:srgbClr val="1B2433"/>
                </a:solidFill>
              </a:rPr>
              <a:t>WHERE keeps only Fall 2025 rows, GROUP BY builds 3 course groups, and HAVING removes PROG1101 because its average (75.7) is not above 80.</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Logical order of a grouped query</a:t>
            </a:r>
            <a:endParaRPr lang="en-US" sz="3200" dirty="0"/>
          </a:p>
        </p:txBody>
      </p:sp>
      <p:sp>
        <p:nvSpPr>
          <p:cNvPr id="3" name="step 0"/>
          <p:cNvSpPr/>
          <p:nvPr/>
        </p:nvSpPr>
        <p:spPr>
          <a:xfrm>
            <a:off x="548640" y="1463040"/>
            <a:ext cx="1658569" cy="2331720"/>
          </a:xfrm>
          <a:prstGeom prst="roundRect">
            <a:avLst>
              <a:gd name="adj" fmla="val 6616"/>
            </a:avLst>
          </a:prstGeom>
          <a:solidFill>
            <a:srgbClr val="EEF3F7"/>
          </a:solidFill>
          <a:ln/>
          <a:effectLst>
            <a:outerShdw sx="100000" sy="100000" kx="0" ky="0" algn="bl" rotWithShape="0" blurRad="76200" dist="25400" dir="5400000">
              <a:srgbClr val="0E3B5C">
                <a:alpha val="12000"/>
              </a:srgbClr>
            </a:outerShdw>
          </a:effectLst>
        </p:spPr>
      </p:sp>
      <p:sp>
        <p:nvSpPr>
          <p:cNvPr id="4" name="step num bg 0"/>
          <p:cNvSpPr/>
          <p:nvPr/>
        </p:nvSpPr>
        <p:spPr>
          <a:xfrm>
            <a:off x="1103605" y="1645920"/>
            <a:ext cx="548640" cy="548640"/>
          </a:xfrm>
          <a:prstGeom prst="ellipse">
            <a:avLst/>
          </a:prstGeom>
          <a:solidFill>
            <a:srgbClr val="0E3B5C"/>
          </a:solidFill>
          <a:ln/>
        </p:spPr>
      </p:sp>
      <p:sp>
        <p:nvSpPr>
          <p:cNvPr id="5" name="step num 0"/>
          <p:cNvSpPr txBox="1"/>
          <p:nvPr/>
        </p:nvSpPr>
        <p:spPr>
          <a:xfrm>
            <a:off x="1103605"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step kw 0"/>
          <p:cNvSpPr txBox="1"/>
          <p:nvPr/>
        </p:nvSpPr>
        <p:spPr>
          <a:xfrm>
            <a:off x="640080" y="2331720"/>
            <a:ext cx="1475689" cy="457200"/>
          </a:xfrm>
          <a:prstGeom prst="rect">
            <a:avLst/>
          </a:prstGeom>
          <a:noFill/>
          <a:ln/>
        </p:spPr>
        <p:txBody>
          <a:bodyPr wrap="square" lIns="0" tIns="0" rIns="0" bIns="0" rtlCol="0" anchor="t"/>
          <a:lstStyle/>
          <a:p>
            <a:pPr algn="ctr" indent="0" marL="0">
              <a:buNone/>
            </a:pPr>
            <a:r>
              <a:rPr lang="en-US" sz="1500" b="1" dirty="0">
                <a:solidFill>
                  <a:srgbClr val="0E3B5C"/>
                </a:solidFill>
                <a:latin typeface="Courier New" pitchFamily="34" charset="0"/>
                <a:ea typeface="Courier New" pitchFamily="34" charset="-122"/>
                <a:cs typeface="Courier New" pitchFamily="34" charset="-120"/>
              </a:rPr>
              <a:t>FROM / JOIN</a:t>
            </a:r>
            <a:endParaRPr lang="en-US" sz="1500" dirty="0"/>
          </a:p>
        </p:txBody>
      </p:sp>
      <p:sp>
        <p:nvSpPr>
          <p:cNvPr id="7" name="step d 0"/>
          <p:cNvSpPr txBox="1"/>
          <p:nvPr/>
        </p:nvSpPr>
        <p:spPr>
          <a:xfrm>
            <a:off x="685800" y="2834640"/>
            <a:ext cx="1384249" cy="822960"/>
          </a:xfrm>
          <a:prstGeom prst="rect">
            <a:avLst/>
          </a:prstGeom>
          <a:noFill/>
          <a:ln/>
        </p:spPr>
        <p:txBody>
          <a:bodyPr wrap="square" lIns="0" tIns="0" rIns="0" bIns="0" rtlCol="0" anchor="t"/>
          <a:lstStyle/>
          <a:p>
            <a:pPr algn="ctr" indent="0" marL="0">
              <a:buNone/>
            </a:pPr>
            <a:r>
              <a:rPr lang="en-US" sz="1400" dirty="0">
                <a:solidFill>
                  <a:srgbClr val="1B2433"/>
                </a:solidFill>
              </a:rPr>
              <a:t>collect and join the rows</a:t>
            </a:r>
            <a:endParaRPr lang="en-US" sz="1400" dirty="0"/>
          </a:p>
        </p:txBody>
      </p:sp>
      <p:sp>
        <p:nvSpPr>
          <p:cNvPr id="8" name="step 1"/>
          <p:cNvSpPr/>
          <p:nvPr/>
        </p:nvSpPr>
        <p:spPr>
          <a:xfrm>
            <a:off x="2435809" y="1463040"/>
            <a:ext cx="1658569" cy="2331720"/>
          </a:xfrm>
          <a:prstGeom prst="roundRect">
            <a:avLst>
              <a:gd name="adj" fmla="val 6616"/>
            </a:avLst>
          </a:prstGeom>
          <a:solidFill>
            <a:srgbClr val="EEF3F7"/>
          </a:solidFill>
          <a:ln/>
          <a:effectLst>
            <a:outerShdw sx="100000" sy="100000" kx="0" ky="0" algn="bl" rotWithShape="0" blurRad="76200" dist="25400" dir="5400000">
              <a:srgbClr val="0E3B5C">
                <a:alpha val="12000"/>
              </a:srgbClr>
            </a:outerShdw>
          </a:effectLst>
        </p:spPr>
      </p:sp>
      <p:sp>
        <p:nvSpPr>
          <p:cNvPr id="9" name="step num bg 1"/>
          <p:cNvSpPr/>
          <p:nvPr/>
        </p:nvSpPr>
        <p:spPr>
          <a:xfrm>
            <a:off x="2990774" y="1645920"/>
            <a:ext cx="548640" cy="548640"/>
          </a:xfrm>
          <a:prstGeom prst="ellipse">
            <a:avLst/>
          </a:prstGeom>
          <a:solidFill>
            <a:srgbClr val="0E3B5C"/>
          </a:solidFill>
          <a:ln/>
        </p:spPr>
      </p:sp>
      <p:sp>
        <p:nvSpPr>
          <p:cNvPr id="10" name="step num 1"/>
          <p:cNvSpPr txBox="1"/>
          <p:nvPr/>
        </p:nvSpPr>
        <p:spPr>
          <a:xfrm>
            <a:off x="2990774"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step kw 1"/>
          <p:cNvSpPr txBox="1"/>
          <p:nvPr/>
        </p:nvSpPr>
        <p:spPr>
          <a:xfrm>
            <a:off x="2527249" y="2331720"/>
            <a:ext cx="1475689" cy="457200"/>
          </a:xfrm>
          <a:prstGeom prst="rect">
            <a:avLst/>
          </a:prstGeom>
          <a:noFill/>
          <a:ln/>
        </p:spPr>
        <p:txBody>
          <a:bodyPr wrap="square" lIns="0" tIns="0" rIns="0" bIns="0" rtlCol="0" anchor="t"/>
          <a:lstStyle/>
          <a:p>
            <a:pPr algn="ctr" indent="0" marL="0">
              <a:buNone/>
            </a:pPr>
            <a:r>
              <a:rPr lang="en-US" sz="1500" b="1" dirty="0">
                <a:solidFill>
                  <a:srgbClr val="0E3B5C"/>
                </a:solidFill>
                <a:latin typeface="Courier New" pitchFamily="34" charset="0"/>
                <a:ea typeface="Courier New" pitchFamily="34" charset="-122"/>
                <a:cs typeface="Courier New" pitchFamily="34" charset="-120"/>
              </a:rPr>
              <a:t>WHERE</a:t>
            </a:r>
            <a:endParaRPr lang="en-US" sz="1500" dirty="0"/>
          </a:p>
        </p:txBody>
      </p:sp>
      <p:sp>
        <p:nvSpPr>
          <p:cNvPr id="12" name="step d 1"/>
          <p:cNvSpPr txBox="1"/>
          <p:nvPr/>
        </p:nvSpPr>
        <p:spPr>
          <a:xfrm>
            <a:off x="2572969" y="2834640"/>
            <a:ext cx="1384249" cy="822960"/>
          </a:xfrm>
          <a:prstGeom prst="rect">
            <a:avLst/>
          </a:prstGeom>
          <a:noFill/>
          <a:ln/>
        </p:spPr>
        <p:txBody>
          <a:bodyPr wrap="square" lIns="0" tIns="0" rIns="0" bIns="0" rtlCol="0" anchor="t"/>
          <a:lstStyle/>
          <a:p>
            <a:pPr algn="ctr" indent="0" marL="0">
              <a:buNone/>
            </a:pPr>
            <a:r>
              <a:rPr lang="en-US" sz="1400" dirty="0">
                <a:solidFill>
                  <a:srgbClr val="1B2433"/>
                </a:solidFill>
              </a:rPr>
              <a:t>filter single rows</a:t>
            </a:r>
            <a:endParaRPr lang="en-US" sz="1400" dirty="0"/>
          </a:p>
        </p:txBody>
      </p:sp>
      <p:sp>
        <p:nvSpPr>
          <p:cNvPr id="13" name="step 2"/>
          <p:cNvSpPr/>
          <p:nvPr/>
        </p:nvSpPr>
        <p:spPr>
          <a:xfrm>
            <a:off x="4322978" y="1463040"/>
            <a:ext cx="1658569" cy="2331720"/>
          </a:xfrm>
          <a:prstGeom prst="roundRect">
            <a:avLst>
              <a:gd name="adj" fmla="val 6616"/>
            </a:avLst>
          </a:prstGeom>
          <a:solidFill>
            <a:srgbClr val="FFF6E6"/>
          </a:solidFill>
          <a:ln/>
          <a:effectLst>
            <a:outerShdw sx="100000" sy="100000" kx="0" ky="0" algn="bl" rotWithShape="0" blurRad="76200" dist="25400" dir="5400000">
              <a:srgbClr val="0E3B5C">
                <a:alpha val="12000"/>
              </a:srgbClr>
            </a:outerShdw>
          </a:effectLst>
        </p:spPr>
      </p:sp>
      <p:sp>
        <p:nvSpPr>
          <p:cNvPr id="14" name="step num bg 2"/>
          <p:cNvSpPr/>
          <p:nvPr/>
        </p:nvSpPr>
        <p:spPr>
          <a:xfrm>
            <a:off x="4877943" y="1645920"/>
            <a:ext cx="548640" cy="548640"/>
          </a:xfrm>
          <a:prstGeom prst="ellipse">
            <a:avLst/>
          </a:prstGeom>
          <a:solidFill>
            <a:srgbClr val="0E3B5C"/>
          </a:solidFill>
          <a:ln/>
        </p:spPr>
      </p:sp>
      <p:sp>
        <p:nvSpPr>
          <p:cNvPr id="15" name="step num 2"/>
          <p:cNvSpPr txBox="1"/>
          <p:nvPr/>
        </p:nvSpPr>
        <p:spPr>
          <a:xfrm>
            <a:off x="4877943"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step kw 2"/>
          <p:cNvSpPr txBox="1"/>
          <p:nvPr/>
        </p:nvSpPr>
        <p:spPr>
          <a:xfrm>
            <a:off x="4414418" y="2331720"/>
            <a:ext cx="1475689" cy="457200"/>
          </a:xfrm>
          <a:prstGeom prst="rect">
            <a:avLst/>
          </a:prstGeom>
          <a:noFill/>
          <a:ln/>
        </p:spPr>
        <p:txBody>
          <a:bodyPr wrap="square" lIns="0" tIns="0" rIns="0" bIns="0" rtlCol="0" anchor="t"/>
          <a:lstStyle/>
          <a:p>
            <a:pPr algn="ctr" indent="0" marL="0">
              <a:buNone/>
            </a:pPr>
            <a:r>
              <a:rPr lang="en-US" sz="1500" b="1" dirty="0">
                <a:solidFill>
                  <a:srgbClr val="0E3B5C"/>
                </a:solidFill>
                <a:latin typeface="Courier New" pitchFamily="34" charset="0"/>
                <a:ea typeface="Courier New" pitchFamily="34" charset="-122"/>
                <a:cs typeface="Courier New" pitchFamily="34" charset="-120"/>
              </a:rPr>
              <a:t>GROUP BY</a:t>
            </a:r>
            <a:endParaRPr lang="en-US" sz="1500" dirty="0"/>
          </a:p>
        </p:txBody>
      </p:sp>
      <p:sp>
        <p:nvSpPr>
          <p:cNvPr id="17" name="step d 2"/>
          <p:cNvSpPr txBox="1"/>
          <p:nvPr/>
        </p:nvSpPr>
        <p:spPr>
          <a:xfrm>
            <a:off x="4460138" y="2834640"/>
            <a:ext cx="1384249" cy="822960"/>
          </a:xfrm>
          <a:prstGeom prst="rect">
            <a:avLst/>
          </a:prstGeom>
          <a:noFill/>
          <a:ln/>
        </p:spPr>
        <p:txBody>
          <a:bodyPr wrap="square" lIns="0" tIns="0" rIns="0" bIns="0" rtlCol="0" anchor="t"/>
          <a:lstStyle/>
          <a:p>
            <a:pPr algn="ctr" indent="0" marL="0">
              <a:buNone/>
            </a:pPr>
            <a:r>
              <a:rPr lang="en-US" sz="1400" dirty="0">
                <a:solidFill>
                  <a:srgbClr val="1B2433"/>
                </a:solidFill>
              </a:rPr>
              <a:t>form the groups</a:t>
            </a:r>
            <a:endParaRPr lang="en-US" sz="1400" dirty="0"/>
          </a:p>
        </p:txBody>
      </p:sp>
      <p:sp>
        <p:nvSpPr>
          <p:cNvPr id="18" name="step 3"/>
          <p:cNvSpPr/>
          <p:nvPr/>
        </p:nvSpPr>
        <p:spPr>
          <a:xfrm>
            <a:off x="6210148" y="1463040"/>
            <a:ext cx="1658569" cy="2331720"/>
          </a:xfrm>
          <a:prstGeom prst="roundRect">
            <a:avLst>
              <a:gd name="adj" fmla="val 6616"/>
            </a:avLst>
          </a:prstGeom>
          <a:solidFill>
            <a:srgbClr val="FFF6E6"/>
          </a:solidFill>
          <a:ln/>
          <a:effectLst>
            <a:outerShdw sx="100000" sy="100000" kx="0" ky="0" algn="bl" rotWithShape="0" blurRad="76200" dist="25400" dir="5400000">
              <a:srgbClr val="0E3B5C">
                <a:alpha val="12000"/>
              </a:srgbClr>
            </a:outerShdw>
          </a:effectLst>
        </p:spPr>
      </p:sp>
      <p:sp>
        <p:nvSpPr>
          <p:cNvPr id="19" name="step num bg 3"/>
          <p:cNvSpPr/>
          <p:nvPr/>
        </p:nvSpPr>
        <p:spPr>
          <a:xfrm>
            <a:off x="6765112" y="1645920"/>
            <a:ext cx="548640" cy="548640"/>
          </a:xfrm>
          <a:prstGeom prst="ellipse">
            <a:avLst/>
          </a:prstGeom>
          <a:solidFill>
            <a:srgbClr val="0E3B5C"/>
          </a:solidFill>
          <a:ln/>
        </p:spPr>
      </p:sp>
      <p:sp>
        <p:nvSpPr>
          <p:cNvPr id="20" name="step num 3"/>
          <p:cNvSpPr txBox="1"/>
          <p:nvPr/>
        </p:nvSpPr>
        <p:spPr>
          <a:xfrm>
            <a:off x="6765112"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1" name="step kw 3"/>
          <p:cNvSpPr txBox="1"/>
          <p:nvPr/>
        </p:nvSpPr>
        <p:spPr>
          <a:xfrm>
            <a:off x="6301588" y="2331720"/>
            <a:ext cx="1475689" cy="457200"/>
          </a:xfrm>
          <a:prstGeom prst="rect">
            <a:avLst/>
          </a:prstGeom>
          <a:noFill/>
          <a:ln/>
        </p:spPr>
        <p:txBody>
          <a:bodyPr wrap="square" lIns="0" tIns="0" rIns="0" bIns="0" rtlCol="0" anchor="t"/>
          <a:lstStyle/>
          <a:p>
            <a:pPr algn="ctr" indent="0" marL="0">
              <a:buNone/>
            </a:pPr>
            <a:r>
              <a:rPr lang="en-US" sz="1500" b="1" dirty="0">
                <a:solidFill>
                  <a:srgbClr val="0E3B5C"/>
                </a:solidFill>
                <a:latin typeface="Courier New" pitchFamily="34" charset="0"/>
                <a:ea typeface="Courier New" pitchFamily="34" charset="-122"/>
                <a:cs typeface="Courier New" pitchFamily="34" charset="-120"/>
              </a:rPr>
              <a:t>HAVING</a:t>
            </a:r>
            <a:endParaRPr lang="en-US" sz="1500" dirty="0"/>
          </a:p>
        </p:txBody>
      </p:sp>
      <p:sp>
        <p:nvSpPr>
          <p:cNvPr id="22" name="step d 3"/>
          <p:cNvSpPr txBox="1"/>
          <p:nvPr/>
        </p:nvSpPr>
        <p:spPr>
          <a:xfrm>
            <a:off x="6347308" y="2834640"/>
            <a:ext cx="1384249" cy="822960"/>
          </a:xfrm>
          <a:prstGeom prst="rect">
            <a:avLst/>
          </a:prstGeom>
          <a:noFill/>
          <a:ln/>
        </p:spPr>
        <p:txBody>
          <a:bodyPr wrap="square" lIns="0" tIns="0" rIns="0" bIns="0" rtlCol="0" anchor="t"/>
          <a:lstStyle/>
          <a:p>
            <a:pPr algn="ctr" indent="0" marL="0">
              <a:buNone/>
            </a:pPr>
            <a:r>
              <a:rPr lang="en-US" sz="1400" dirty="0">
                <a:solidFill>
                  <a:srgbClr val="1B2433"/>
                </a:solidFill>
              </a:rPr>
              <a:t>filter whole groups</a:t>
            </a:r>
            <a:endParaRPr lang="en-US" sz="1400" dirty="0"/>
          </a:p>
        </p:txBody>
      </p:sp>
      <p:sp>
        <p:nvSpPr>
          <p:cNvPr id="23" name="step 4"/>
          <p:cNvSpPr/>
          <p:nvPr/>
        </p:nvSpPr>
        <p:spPr>
          <a:xfrm>
            <a:off x="8097317" y="1463040"/>
            <a:ext cx="1658569" cy="2331720"/>
          </a:xfrm>
          <a:prstGeom prst="roundRect">
            <a:avLst>
              <a:gd name="adj" fmla="val 6616"/>
            </a:avLst>
          </a:prstGeom>
          <a:solidFill>
            <a:srgbClr val="EEF3F7"/>
          </a:solidFill>
          <a:ln/>
          <a:effectLst>
            <a:outerShdw sx="100000" sy="100000" kx="0" ky="0" algn="bl" rotWithShape="0" blurRad="76200" dist="25400" dir="5400000">
              <a:srgbClr val="0E3B5C">
                <a:alpha val="12000"/>
              </a:srgbClr>
            </a:outerShdw>
          </a:effectLst>
        </p:spPr>
      </p:sp>
      <p:sp>
        <p:nvSpPr>
          <p:cNvPr id="24" name="step num bg 4"/>
          <p:cNvSpPr/>
          <p:nvPr/>
        </p:nvSpPr>
        <p:spPr>
          <a:xfrm>
            <a:off x="8652281" y="1645920"/>
            <a:ext cx="548640" cy="548640"/>
          </a:xfrm>
          <a:prstGeom prst="ellipse">
            <a:avLst/>
          </a:prstGeom>
          <a:solidFill>
            <a:srgbClr val="0E3B5C"/>
          </a:solidFill>
          <a:ln/>
        </p:spPr>
      </p:sp>
      <p:sp>
        <p:nvSpPr>
          <p:cNvPr id="25" name="step num 4"/>
          <p:cNvSpPr txBox="1"/>
          <p:nvPr/>
        </p:nvSpPr>
        <p:spPr>
          <a:xfrm>
            <a:off x="8652281"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6" name="step kw 4"/>
          <p:cNvSpPr txBox="1"/>
          <p:nvPr/>
        </p:nvSpPr>
        <p:spPr>
          <a:xfrm>
            <a:off x="8188757" y="2331720"/>
            <a:ext cx="1475689" cy="457200"/>
          </a:xfrm>
          <a:prstGeom prst="rect">
            <a:avLst/>
          </a:prstGeom>
          <a:noFill/>
          <a:ln/>
        </p:spPr>
        <p:txBody>
          <a:bodyPr wrap="square" lIns="0" tIns="0" rIns="0" bIns="0" rtlCol="0" anchor="t"/>
          <a:lstStyle/>
          <a:p>
            <a:pPr algn="ctr" indent="0" marL="0">
              <a:buNone/>
            </a:pPr>
            <a:r>
              <a:rPr lang="en-US" sz="1500" b="1" dirty="0">
                <a:solidFill>
                  <a:srgbClr val="0E3B5C"/>
                </a:solidFill>
                <a:latin typeface="Courier New" pitchFamily="34" charset="0"/>
                <a:ea typeface="Courier New" pitchFamily="34" charset="-122"/>
                <a:cs typeface="Courier New" pitchFamily="34" charset="-120"/>
              </a:rPr>
              <a:t>SELECT</a:t>
            </a:r>
            <a:endParaRPr lang="en-US" sz="1500" dirty="0"/>
          </a:p>
        </p:txBody>
      </p:sp>
      <p:sp>
        <p:nvSpPr>
          <p:cNvPr id="27" name="step d 4"/>
          <p:cNvSpPr txBox="1"/>
          <p:nvPr/>
        </p:nvSpPr>
        <p:spPr>
          <a:xfrm>
            <a:off x="8234477" y="2834640"/>
            <a:ext cx="1384249" cy="822960"/>
          </a:xfrm>
          <a:prstGeom prst="rect">
            <a:avLst/>
          </a:prstGeom>
          <a:noFill/>
          <a:ln/>
        </p:spPr>
        <p:txBody>
          <a:bodyPr wrap="square" lIns="0" tIns="0" rIns="0" bIns="0" rtlCol="0" anchor="t"/>
          <a:lstStyle/>
          <a:p>
            <a:pPr algn="ctr" indent="0" marL="0">
              <a:buNone/>
            </a:pPr>
            <a:r>
              <a:rPr lang="en-US" sz="1400" dirty="0">
                <a:solidFill>
                  <a:srgbClr val="1B2433"/>
                </a:solidFill>
              </a:rPr>
              <a:t>compute the output columns</a:t>
            </a:r>
            <a:endParaRPr lang="en-US" sz="1400" dirty="0"/>
          </a:p>
        </p:txBody>
      </p:sp>
      <p:sp>
        <p:nvSpPr>
          <p:cNvPr id="28" name="step 5"/>
          <p:cNvSpPr/>
          <p:nvPr/>
        </p:nvSpPr>
        <p:spPr>
          <a:xfrm>
            <a:off x="9984486" y="1463040"/>
            <a:ext cx="1658569" cy="2331720"/>
          </a:xfrm>
          <a:prstGeom prst="roundRect">
            <a:avLst>
              <a:gd name="adj" fmla="val 6616"/>
            </a:avLst>
          </a:prstGeom>
          <a:solidFill>
            <a:srgbClr val="EEF3F7"/>
          </a:solidFill>
          <a:ln/>
          <a:effectLst>
            <a:outerShdw sx="100000" sy="100000" kx="0" ky="0" algn="bl" rotWithShape="0" blurRad="76200" dist="25400" dir="5400000">
              <a:srgbClr val="0E3B5C">
                <a:alpha val="12000"/>
              </a:srgbClr>
            </a:outerShdw>
          </a:effectLst>
        </p:spPr>
      </p:sp>
      <p:sp>
        <p:nvSpPr>
          <p:cNvPr id="29" name="step num bg 5"/>
          <p:cNvSpPr/>
          <p:nvPr/>
        </p:nvSpPr>
        <p:spPr>
          <a:xfrm>
            <a:off x="10539451" y="1645920"/>
            <a:ext cx="548640" cy="548640"/>
          </a:xfrm>
          <a:prstGeom prst="ellipse">
            <a:avLst/>
          </a:prstGeom>
          <a:solidFill>
            <a:srgbClr val="0E3B5C"/>
          </a:solidFill>
          <a:ln/>
        </p:spPr>
      </p:sp>
      <p:sp>
        <p:nvSpPr>
          <p:cNvPr id="30" name="step num 5"/>
          <p:cNvSpPr txBox="1"/>
          <p:nvPr/>
        </p:nvSpPr>
        <p:spPr>
          <a:xfrm>
            <a:off x="10539451"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1" name="step kw 5"/>
          <p:cNvSpPr txBox="1"/>
          <p:nvPr/>
        </p:nvSpPr>
        <p:spPr>
          <a:xfrm>
            <a:off x="10075926" y="2331720"/>
            <a:ext cx="1475689" cy="457200"/>
          </a:xfrm>
          <a:prstGeom prst="rect">
            <a:avLst/>
          </a:prstGeom>
          <a:noFill/>
          <a:ln/>
        </p:spPr>
        <p:txBody>
          <a:bodyPr wrap="square" lIns="0" tIns="0" rIns="0" bIns="0" rtlCol="0" anchor="t"/>
          <a:lstStyle/>
          <a:p>
            <a:pPr algn="ctr" indent="0" marL="0">
              <a:buNone/>
            </a:pPr>
            <a:r>
              <a:rPr lang="en-US" sz="1500" b="1" dirty="0">
                <a:solidFill>
                  <a:srgbClr val="0E3B5C"/>
                </a:solidFill>
                <a:latin typeface="Courier New" pitchFamily="34" charset="0"/>
                <a:ea typeface="Courier New" pitchFamily="34" charset="-122"/>
                <a:cs typeface="Courier New" pitchFamily="34" charset="-120"/>
              </a:rPr>
              <a:t>ORDER BY</a:t>
            </a:r>
            <a:endParaRPr lang="en-US" sz="1500" dirty="0"/>
          </a:p>
        </p:txBody>
      </p:sp>
      <p:sp>
        <p:nvSpPr>
          <p:cNvPr id="32" name="step d 5"/>
          <p:cNvSpPr txBox="1"/>
          <p:nvPr/>
        </p:nvSpPr>
        <p:spPr>
          <a:xfrm>
            <a:off x="10121646" y="2834640"/>
            <a:ext cx="1384249" cy="822960"/>
          </a:xfrm>
          <a:prstGeom prst="rect">
            <a:avLst/>
          </a:prstGeom>
          <a:noFill/>
          <a:ln/>
        </p:spPr>
        <p:txBody>
          <a:bodyPr wrap="square" lIns="0" tIns="0" rIns="0" bIns="0" rtlCol="0" anchor="t"/>
          <a:lstStyle/>
          <a:p>
            <a:pPr algn="ctr" indent="0" marL="0">
              <a:buNone/>
            </a:pPr>
            <a:r>
              <a:rPr lang="en-US" sz="1400" dirty="0">
                <a:solidFill>
                  <a:srgbClr val="1B2433"/>
                </a:solidFill>
              </a:rPr>
              <a:t>sort the result</a:t>
            </a:r>
            <a:endParaRPr lang="en-US" sz="1400" dirty="0"/>
          </a:p>
        </p:txBody>
      </p:sp>
      <p:sp>
        <p:nvSpPr>
          <p:cNvPr id="33" name="takeaway card"/>
          <p:cNvSpPr/>
          <p:nvPr/>
        </p:nvSpPr>
        <p:spPr>
          <a:xfrm>
            <a:off x="548640" y="4114800"/>
            <a:ext cx="11094415" cy="1600200"/>
          </a:xfrm>
          <a:prstGeom prst="roundRect">
            <a:avLst>
              <a:gd name="adj" fmla="val 6857"/>
            </a:avLst>
          </a:prstGeom>
          <a:solidFill>
            <a:srgbClr val="EEF3F7"/>
          </a:solidFill>
          <a:ln/>
          <a:effectLst>
            <a:outerShdw sx="100000" sy="100000" kx="0" ky="0" algn="bl" rotWithShape="0" blurRad="76200" dist="25400" dir="5400000">
              <a:srgbClr val="0E3B5C">
                <a:alpha val="12000"/>
              </a:srgbClr>
            </a:outerShdw>
          </a:effectLst>
        </p:spPr>
      </p:sp>
      <p:sp>
        <p:nvSpPr>
          <p:cNvPr id="34" name="takeaway text"/>
          <p:cNvSpPr txBox="1"/>
          <p:nvPr/>
        </p:nvSpPr>
        <p:spPr>
          <a:xfrm>
            <a:off x="868680" y="4206240"/>
            <a:ext cx="10454335" cy="1417320"/>
          </a:xfrm>
          <a:prstGeom prst="rect">
            <a:avLst/>
          </a:prstGeom>
          <a:noFill/>
          <a:ln/>
        </p:spPr>
        <p:txBody>
          <a:bodyPr wrap="square" lIns="0" tIns="0" rIns="0" bIns="0" rtlCol="0" anchor="ctr"/>
          <a:lstStyle/>
          <a:p>
            <a:pPr indent="0" marL="0">
              <a:spcAft>
                <a:spcPts val="600"/>
              </a:spcAft>
              <a:buNone/>
            </a:pPr>
            <a:r>
              <a:rPr lang="en-US" sz="1600" b="1" dirty="0">
                <a:solidFill>
                  <a:srgbClr val="0E3B5C"/>
                </a:solidFill>
              </a:rPr>
              <a:t>WHERE cannot use aggregates</a:t>
            </a:r>
            <a:pPr indent="0" marL="0">
              <a:spcAft>
                <a:spcPts val="600"/>
              </a:spcAft>
              <a:buNone/>
            </a:pPr>
            <a:r>
              <a:rPr lang="en-US" sz="1600" dirty="0">
                <a:solidFill>
                  <a:srgbClr val="1B2433"/>
                </a:solidFill>
              </a:rPr>
              <a:t> — it runs before the groups (and their aggregates) exist.</a:t>
            </a:r>
            <a:endParaRPr lang="en-US" sz="1600" dirty="0"/>
          </a:p>
          <a:p>
            <a:pPr indent="0" marL="0">
              <a:spcAft>
                <a:spcPts val="600"/>
              </a:spcAft>
              <a:buNone/>
            </a:pPr>
            <a:r>
              <a:rPr lang="en-US" sz="1600" b="1" dirty="0">
                <a:solidFill>
                  <a:srgbClr val="0E3B5C"/>
                </a:solidFill>
              </a:rPr>
              <a:t>HAVING can</a:t>
            </a:r>
            <a:pPr indent="0" marL="0">
              <a:spcAft>
                <a:spcPts val="600"/>
              </a:spcAft>
              <a:buNone/>
            </a:pPr>
            <a:r>
              <a:rPr lang="en-US" sz="1600" dirty="0">
                <a:solidFill>
                  <a:srgbClr val="1B2433"/>
                </a:solidFill>
              </a:rPr>
              <a:t> — by step 4 every group already has its COUNT, SUM, AVG, MIN and MAX.</a:t>
            </a:r>
            <a:endParaRPr lang="en-US" sz="1600" dirty="0"/>
          </a:p>
          <a:p>
            <a:pPr indent="0" marL="0">
              <a:spcAft>
                <a:spcPts val="600"/>
              </a:spcAft>
              <a:buNone/>
            </a:pPr>
            <a:r>
              <a:rPr lang="en-US" sz="1600" b="1" dirty="0">
                <a:solidFill>
                  <a:srgbClr val="0E3B5C"/>
                </a:solidFill>
              </a:rPr>
              <a:t>Without GROUP BY</a:t>
            </a:r>
            <a:pPr indent="0" marL="0">
              <a:spcAft>
                <a:spcPts val="600"/>
              </a:spcAft>
              <a:buNone/>
            </a:pPr>
            <a:r>
              <a:rPr lang="en-US" sz="1600" dirty="0">
                <a:solidFill>
                  <a:srgbClr val="1B2433"/>
                </a:solidFill>
              </a:rPr>
              <a:t>, aggregates turn the whole result into a single row.</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Quiz: check yourself (1/2)</a:t>
            </a:r>
            <a:endParaRPr lang="en-US" sz="3200" dirty="0"/>
          </a:p>
        </p:txBody>
      </p:sp>
      <p:sp>
        <p:nvSpPr>
          <p:cNvPr id="3" name="q card 1"/>
          <p:cNvSpPr/>
          <p:nvPr/>
        </p:nvSpPr>
        <p:spPr>
          <a:xfrm>
            <a:off x="548640" y="1371600"/>
            <a:ext cx="5410048" cy="2240280"/>
          </a:xfrm>
          <a:prstGeom prst="roundRect">
            <a:avLst>
              <a:gd name="adj" fmla="val 4898"/>
            </a:avLst>
          </a:prstGeom>
          <a:solidFill>
            <a:srgbClr val="EEF3F7"/>
          </a:solidFill>
          <a:ln/>
          <a:effectLst>
            <a:outerShdw sx="100000" sy="100000" kx="0" ky="0" algn="bl" rotWithShape="0" blurRad="76200" dist="25400" dir="5400000">
              <a:srgbClr val="0E3B5C">
                <a:alpha val="12000"/>
              </a:srgbClr>
            </a:outerShdw>
          </a:effectLst>
        </p:spPr>
      </p:sp>
      <p:sp>
        <p:nvSpPr>
          <p:cNvPr id="4" name="q badge 1"/>
          <p:cNvSpPr/>
          <p:nvPr/>
        </p:nvSpPr>
        <p:spPr>
          <a:xfrm>
            <a:off x="777240" y="1600200"/>
            <a:ext cx="594360" cy="594360"/>
          </a:xfrm>
          <a:prstGeom prst="ellipse">
            <a:avLst/>
          </a:prstGeom>
          <a:solidFill>
            <a:srgbClr val="F2A541"/>
          </a:solidFill>
          <a:ln/>
        </p:spPr>
      </p:sp>
      <p:sp>
        <p:nvSpPr>
          <p:cNvPr id="5" name="q num 1"/>
          <p:cNvSpPr txBox="1"/>
          <p:nvPr/>
        </p:nvSpPr>
        <p:spPr>
          <a:xfrm>
            <a:off x="777240" y="1600200"/>
            <a:ext cx="594360" cy="594360"/>
          </a:xfrm>
          <a:prstGeom prst="rect">
            <a:avLst/>
          </a:prstGeom>
          <a:noFill/>
          <a:ln/>
        </p:spPr>
        <p:txBody>
          <a:bodyPr wrap="square" lIns="0" tIns="0" rIns="0" bIns="0" rtlCol="0" anchor="ctr"/>
          <a:lstStyle/>
          <a:p>
            <a:pPr algn="ctr" indent="0" marL="0">
              <a:buNone/>
            </a:pPr>
            <a:r>
              <a:rPr lang="en-US" sz="1600" b="1" dirty="0">
                <a:solidFill>
                  <a:srgbClr val="1B2433"/>
                </a:solidFill>
              </a:rPr>
              <a:t>Q1</a:t>
            </a:r>
            <a:endParaRPr lang="en-US" sz="1600" dirty="0"/>
          </a:p>
        </p:txBody>
      </p:sp>
      <p:sp>
        <p:nvSpPr>
          <p:cNvPr id="6" name="q text 1"/>
          <p:cNvSpPr txBox="1"/>
          <p:nvPr/>
        </p:nvSpPr>
        <p:spPr>
          <a:xfrm>
            <a:off x="1554480" y="1600200"/>
            <a:ext cx="4175608" cy="822960"/>
          </a:xfrm>
          <a:prstGeom prst="rect">
            <a:avLst/>
          </a:prstGeom>
          <a:noFill/>
          <a:ln/>
        </p:spPr>
        <p:txBody>
          <a:bodyPr wrap="square" lIns="0" tIns="0" rIns="0" bIns="0" rtlCol="0" anchor="ctr"/>
          <a:lstStyle/>
          <a:p>
            <a:pPr indent="0" marL="0">
              <a:buNone/>
            </a:pPr>
            <a:r>
              <a:rPr lang="en-US" sz="1600" b="1" dirty="0">
                <a:solidFill>
                  <a:srgbClr val="1B2433"/>
                </a:solidFill>
              </a:rPr>
              <a:t>Which expression counts all rows, including rows with a NULL grade?</a:t>
            </a:r>
            <a:endParaRPr lang="en-US" sz="1600" dirty="0"/>
          </a:p>
        </p:txBody>
      </p:sp>
      <p:sp>
        <p:nvSpPr>
          <p:cNvPr id="7" name="q1 opt 0"/>
          <p:cNvSpPr txBox="1"/>
          <p:nvPr/>
        </p:nvSpPr>
        <p:spPr>
          <a:xfrm>
            <a:off x="1554480" y="2560320"/>
            <a:ext cx="2518315" cy="365760"/>
          </a:xfrm>
          <a:prstGeom prst="rect">
            <a:avLst/>
          </a:prstGeom>
          <a:noFill/>
          <a:ln/>
        </p:spPr>
        <p:txBody>
          <a:bodyPr wrap="square" lIns="0" tIns="0" rIns="0" bIns="0" rtlCol="0" anchor="t"/>
          <a:lstStyle/>
          <a:p>
            <a:pPr indent="0" marL="0">
              <a:buNone/>
            </a:pPr>
            <a:r>
              <a:rPr lang="en-US" sz="1500" dirty="0">
                <a:solidFill>
                  <a:srgbClr val="1B2433"/>
                </a:solidFill>
              </a:rPr>
              <a:t>A) COUNT(grade)</a:t>
            </a:r>
            <a:endParaRPr lang="en-US" sz="1500" dirty="0"/>
          </a:p>
        </p:txBody>
      </p:sp>
      <p:sp>
        <p:nvSpPr>
          <p:cNvPr id="8" name="q1 opt 1"/>
          <p:cNvSpPr txBox="1"/>
          <p:nvPr/>
        </p:nvSpPr>
        <p:spPr>
          <a:xfrm>
            <a:off x="4164235" y="2560320"/>
            <a:ext cx="1474413" cy="365760"/>
          </a:xfrm>
          <a:prstGeom prst="rect">
            <a:avLst/>
          </a:prstGeom>
          <a:noFill/>
          <a:ln/>
        </p:spPr>
        <p:txBody>
          <a:bodyPr wrap="square" lIns="0" tIns="0" rIns="0" bIns="0" rtlCol="0" anchor="t"/>
          <a:lstStyle/>
          <a:p>
            <a:pPr indent="0" marL="0">
              <a:buNone/>
            </a:pPr>
            <a:r>
              <a:rPr lang="en-US" sz="1500" dirty="0">
                <a:solidFill>
                  <a:srgbClr val="1B2433"/>
                </a:solidFill>
              </a:rPr>
              <a:t>B) COUNT(*)</a:t>
            </a:r>
            <a:endParaRPr lang="en-US" sz="1500" dirty="0"/>
          </a:p>
        </p:txBody>
      </p:sp>
      <p:sp>
        <p:nvSpPr>
          <p:cNvPr id="9" name="q1 opt 2"/>
          <p:cNvSpPr txBox="1"/>
          <p:nvPr/>
        </p:nvSpPr>
        <p:spPr>
          <a:xfrm>
            <a:off x="1554480" y="2971800"/>
            <a:ext cx="2518315" cy="365760"/>
          </a:xfrm>
          <a:prstGeom prst="rect">
            <a:avLst/>
          </a:prstGeom>
          <a:noFill/>
          <a:ln/>
        </p:spPr>
        <p:txBody>
          <a:bodyPr wrap="square" lIns="0" tIns="0" rIns="0" bIns="0" rtlCol="0" anchor="t"/>
          <a:lstStyle/>
          <a:p>
            <a:pPr indent="0" marL="0">
              <a:buNone/>
            </a:pPr>
            <a:r>
              <a:rPr lang="en-US" sz="1500" dirty="0">
                <a:solidFill>
                  <a:srgbClr val="1B2433"/>
                </a:solidFill>
              </a:rPr>
              <a:t>C) COUNT(DISTINCT grade)</a:t>
            </a:r>
            <a:endParaRPr lang="en-US" sz="1500" dirty="0"/>
          </a:p>
        </p:txBody>
      </p:sp>
      <p:sp>
        <p:nvSpPr>
          <p:cNvPr id="10" name="q1 opt 3"/>
          <p:cNvSpPr txBox="1"/>
          <p:nvPr/>
        </p:nvSpPr>
        <p:spPr>
          <a:xfrm>
            <a:off x="4164235" y="2971800"/>
            <a:ext cx="1474413" cy="365760"/>
          </a:xfrm>
          <a:prstGeom prst="rect">
            <a:avLst/>
          </a:prstGeom>
          <a:noFill/>
          <a:ln/>
        </p:spPr>
        <p:txBody>
          <a:bodyPr wrap="square" lIns="0" tIns="0" rIns="0" bIns="0" rtlCol="0" anchor="t"/>
          <a:lstStyle/>
          <a:p>
            <a:pPr indent="0" marL="0">
              <a:buNone/>
            </a:pPr>
            <a:r>
              <a:rPr lang="en-US" sz="1500" dirty="0">
                <a:solidFill>
                  <a:srgbClr val="1B2433"/>
                </a:solidFill>
              </a:rPr>
              <a:t>D) MAX(grade)</a:t>
            </a:r>
            <a:endParaRPr lang="en-US" sz="1500" dirty="0"/>
          </a:p>
        </p:txBody>
      </p:sp>
      <p:sp>
        <p:nvSpPr>
          <p:cNvPr id="11" name="q card 2"/>
          <p:cNvSpPr/>
          <p:nvPr/>
        </p:nvSpPr>
        <p:spPr>
          <a:xfrm>
            <a:off x="6233008" y="1371600"/>
            <a:ext cx="5410048" cy="2240280"/>
          </a:xfrm>
          <a:prstGeom prst="roundRect">
            <a:avLst>
              <a:gd name="adj" fmla="val 4898"/>
            </a:avLst>
          </a:prstGeom>
          <a:solidFill>
            <a:srgbClr val="EEF3F7"/>
          </a:solidFill>
          <a:ln/>
          <a:effectLst>
            <a:outerShdw sx="100000" sy="100000" kx="0" ky="0" algn="bl" rotWithShape="0" blurRad="76200" dist="25400" dir="5400000">
              <a:srgbClr val="0E3B5C">
                <a:alpha val="12000"/>
              </a:srgbClr>
            </a:outerShdw>
          </a:effectLst>
        </p:spPr>
      </p:sp>
      <p:sp>
        <p:nvSpPr>
          <p:cNvPr id="12" name="q badge 2"/>
          <p:cNvSpPr/>
          <p:nvPr/>
        </p:nvSpPr>
        <p:spPr>
          <a:xfrm>
            <a:off x="6461608" y="1600200"/>
            <a:ext cx="594360" cy="594360"/>
          </a:xfrm>
          <a:prstGeom prst="ellipse">
            <a:avLst/>
          </a:prstGeom>
          <a:solidFill>
            <a:srgbClr val="F2A541"/>
          </a:solidFill>
          <a:ln/>
        </p:spPr>
      </p:sp>
      <p:sp>
        <p:nvSpPr>
          <p:cNvPr id="13" name="q num 2"/>
          <p:cNvSpPr txBox="1"/>
          <p:nvPr/>
        </p:nvSpPr>
        <p:spPr>
          <a:xfrm>
            <a:off x="6461608" y="1600200"/>
            <a:ext cx="594360" cy="594360"/>
          </a:xfrm>
          <a:prstGeom prst="rect">
            <a:avLst/>
          </a:prstGeom>
          <a:noFill/>
          <a:ln/>
        </p:spPr>
        <p:txBody>
          <a:bodyPr wrap="square" lIns="0" tIns="0" rIns="0" bIns="0" rtlCol="0" anchor="ctr"/>
          <a:lstStyle/>
          <a:p>
            <a:pPr algn="ctr" indent="0" marL="0">
              <a:buNone/>
            </a:pPr>
            <a:r>
              <a:rPr lang="en-US" sz="1600" b="1" dirty="0">
                <a:solidFill>
                  <a:srgbClr val="1B2433"/>
                </a:solidFill>
              </a:rPr>
              <a:t>Q2</a:t>
            </a:r>
            <a:endParaRPr lang="en-US" sz="1600" dirty="0"/>
          </a:p>
        </p:txBody>
      </p:sp>
      <p:sp>
        <p:nvSpPr>
          <p:cNvPr id="14" name="q text 2"/>
          <p:cNvSpPr txBox="1"/>
          <p:nvPr/>
        </p:nvSpPr>
        <p:spPr>
          <a:xfrm>
            <a:off x="7238848" y="1600200"/>
            <a:ext cx="4175608" cy="822960"/>
          </a:xfrm>
          <a:prstGeom prst="rect">
            <a:avLst/>
          </a:prstGeom>
          <a:noFill/>
          <a:ln/>
        </p:spPr>
        <p:txBody>
          <a:bodyPr wrap="square" lIns="0" tIns="0" rIns="0" bIns="0" rtlCol="0" anchor="ctr"/>
          <a:lstStyle/>
          <a:p>
            <a:pPr indent="0" marL="0">
              <a:buNone/>
            </a:pPr>
            <a:r>
              <a:rPr lang="en-US" sz="1600" b="1" dirty="0">
                <a:solidFill>
                  <a:srgbClr val="1B2433"/>
                </a:solidFill>
              </a:rPr>
              <a:t>True or false: AVG(grade) treats NULL grades as 0.</a:t>
            </a:r>
            <a:endParaRPr lang="en-US" sz="1600" dirty="0"/>
          </a:p>
        </p:txBody>
      </p:sp>
      <p:sp>
        <p:nvSpPr>
          <p:cNvPr id="15" name="q card 3"/>
          <p:cNvSpPr/>
          <p:nvPr/>
        </p:nvSpPr>
        <p:spPr>
          <a:xfrm>
            <a:off x="548640" y="3886200"/>
            <a:ext cx="5410048" cy="2240280"/>
          </a:xfrm>
          <a:prstGeom prst="roundRect">
            <a:avLst>
              <a:gd name="adj" fmla="val 4898"/>
            </a:avLst>
          </a:prstGeom>
          <a:solidFill>
            <a:srgbClr val="EEF3F7"/>
          </a:solidFill>
          <a:ln/>
          <a:effectLst>
            <a:outerShdw sx="100000" sy="100000" kx="0" ky="0" algn="bl" rotWithShape="0" blurRad="76200" dist="25400" dir="5400000">
              <a:srgbClr val="0E3B5C">
                <a:alpha val="12000"/>
              </a:srgbClr>
            </a:outerShdw>
          </a:effectLst>
        </p:spPr>
      </p:sp>
      <p:sp>
        <p:nvSpPr>
          <p:cNvPr id="16" name="q badge 3"/>
          <p:cNvSpPr/>
          <p:nvPr/>
        </p:nvSpPr>
        <p:spPr>
          <a:xfrm>
            <a:off x="777240" y="4114800"/>
            <a:ext cx="594360" cy="594360"/>
          </a:xfrm>
          <a:prstGeom prst="ellipse">
            <a:avLst/>
          </a:prstGeom>
          <a:solidFill>
            <a:srgbClr val="F2A541"/>
          </a:solidFill>
          <a:ln/>
        </p:spPr>
      </p:sp>
      <p:sp>
        <p:nvSpPr>
          <p:cNvPr id="17" name="q num 3"/>
          <p:cNvSpPr txBox="1"/>
          <p:nvPr/>
        </p:nvSpPr>
        <p:spPr>
          <a:xfrm>
            <a:off x="777240" y="4114800"/>
            <a:ext cx="594360" cy="594360"/>
          </a:xfrm>
          <a:prstGeom prst="rect">
            <a:avLst/>
          </a:prstGeom>
          <a:noFill/>
          <a:ln/>
        </p:spPr>
        <p:txBody>
          <a:bodyPr wrap="square" lIns="0" tIns="0" rIns="0" bIns="0" rtlCol="0" anchor="ctr"/>
          <a:lstStyle/>
          <a:p>
            <a:pPr algn="ctr" indent="0" marL="0">
              <a:buNone/>
            </a:pPr>
            <a:r>
              <a:rPr lang="en-US" sz="1600" b="1" dirty="0">
                <a:solidFill>
                  <a:srgbClr val="1B2433"/>
                </a:solidFill>
              </a:rPr>
              <a:t>Q3</a:t>
            </a:r>
            <a:endParaRPr lang="en-US" sz="1600" dirty="0"/>
          </a:p>
        </p:txBody>
      </p:sp>
      <p:sp>
        <p:nvSpPr>
          <p:cNvPr id="18" name="q text 3"/>
          <p:cNvSpPr txBox="1"/>
          <p:nvPr/>
        </p:nvSpPr>
        <p:spPr>
          <a:xfrm>
            <a:off x="1554480" y="4114800"/>
            <a:ext cx="4175608" cy="822960"/>
          </a:xfrm>
          <a:prstGeom prst="rect">
            <a:avLst/>
          </a:prstGeom>
          <a:noFill/>
          <a:ln/>
        </p:spPr>
        <p:txBody>
          <a:bodyPr wrap="square" lIns="0" tIns="0" rIns="0" bIns="0" rtlCol="0" anchor="ctr"/>
          <a:lstStyle/>
          <a:p>
            <a:pPr indent="0" marL="0">
              <a:buNone/>
            </a:pPr>
            <a:r>
              <a:rPr lang="en-US" sz="1600" b="1" dirty="0">
                <a:solidFill>
                  <a:srgbClr val="1B2433"/>
                </a:solidFill>
              </a:rPr>
              <a:t>Which clause filters groups after they are formed?</a:t>
            </a:r>
            <a:endParaRPr lang="en-US" sz="1600" dirty="0"/>
          </a:p>
        </p:txBody>
      </p:sp>
      <p:sp>
        <p:nvSpPr>
          <p:cNvPr id="19" name="q3 opt 0"/>
          <p:cNvSpPr txBox="1"/>
          <p:nvPr/>
        </p:nvSpPr>
        <p:spPr>
          <a:xfrm>
            <a:off x="1554480" y="5074920"/>
            <a:ext cx="2518315" cy="365760"/>
          </a:xfrm>
          <a:prstGeom prst="rect">
            <a:avLst/>
          </a:prstGeom>
          <a:noFill/>
          <a:ln/>
        </p:spPr>
        <p:txBody>
          <a:bodyPr wrap="square" lIns="0" tIns="0" rIns="0" bIns="0" rtlCol="0" anchor="t"/>
          <a:lstStyle/>
          <a:p>
            <a:pPr indent="0" marL="0">
              <a:buNone/>
            </a:pPr>
            <a:r>
              <a:rPr lang="en-US" sz="1500" dirty="0">
                <a:solidFill>
                  <a:srgbClr val="1B2433"/>
                </a:solidFill>
              </a:rPr>
              <a:t>A) WHERE</a:t>
            </a:r>
            <a:endParaRPr lang="en-US" sz="1500" dirty="0"/>
          </a:p>
        </p:txBody>
      </p:sp>
      <p:sp>
        <p:nvSpPr>
          <p:cNvPr id="20" name="q3 opt 1"/>
          <p:cNvSpPr txBox="1"/>
          <p:nvPr/>
        </p:nvSpPr>
        <p:spPr>
          <a:xfrm>
            <a:off x="4164235" y="5074920"/>
            <a:ext cx="1474413" cy="365760"/>
          </a:xfrm>
          <a:prstGeom prst="rect">
            <a:avLst/>
          </a:prstGeom>
          <a:noFill/>
          <a:ln/>
        </p:spPr>
        <p:txBody>
          <a:bodyPr wrap="square" lIns="0" tIns="0" rIns="0" bIns="0" rtlCol="0" anchor="t"/>
          <a:lstStyle/>
          <a:p>
            <a:pPr indent="0" marL="0">
              <a:buNone/>
            </a:pPr>
            <a:r>
              <a:rPr lang="en-US" sz="1500" dirty="0">
                <a:solidFill>
                  <a:srgbClr val="1B2433"/>
                </a:solidFill>
              </a:rPr>
              <a:t>B) GROUP BY</a:t>
            </a:r>
            <a:endParaRPr lang="en-US" sz="1500" dirty="0"/>
          </a:p>
        </p:txBody>
      </p:sp>
      <p:sp>
        <p:nvSpPr>
          <p:cNvPr id="21" name="q3 opt 2"/>
          <p:cNvSpPr txBox="1"/>
          <p:nvPr/>
        </p:nvSpPr>
        <p:spPr>
          <a:xfrm>
            <a:off x="1554480" y="5486400"/>
            <a:ext cx="2518315" cy="365760"/>
          </a:xfrm>
          <a:prstGeom prst="rect">
            <a:avLst/>
          </a:prstGeom>
          <a:noFill/>
          <a:ln/>
        </p:spPr>
        <p:txBody>
          <a:bodyPr wrap="square" lIns="0" tIns="0" rIns="0" bIns="0" rtlCol="0" anchor="t"/>
          <a:lstStyle/>
          <a:p>
            <a:pPr indent="0" marL="0">
              <a:buNone/>
            </a:pPr>
            <a:r>
              <a:rPr lang="en-US" sz="1500" dirty="0">
                <a:solidFill>
                  <a:srgbClr val="1B2433"/>
                </a:solidFill>
              </a:rPr>
              <a:t>C) HAVING</a:t>
            </a:r>
            <a:endParaRPr lang="en-US" sz="1500" dirty="0"/>
          </a:p>
        </p:txBody>
      </p:sp>
      <p:sp>
        <p:nvSpPr>
          <p:cNvPr id="22" name="q3 opt 3"/>
          <p:cNvSpPr txBox="1"/>
          <p:nvPr/>
        </p:nvSpPr>
        <p:spPr>
          <a:xfrm>
            <a:off x="4164235" y="5486400"/>
            <a:ext cx="1474413" cy="365760"/>
          </a:xfrm>
          <a:prstGeom prst="rect">
            <a:avLst/>
          </a:prstGeom>
          <a:noFill/>
          <a:ln/>
        </p:spPr>
        <p:txBody>
          <a:bodyPr wrap="square" lIns="0" tIns="0" rIns="0" bIns="0" rtlCol="0" anchor="t"/>
          <a:lstStyle/>
          <a:p>
            <a:pPr indent="0" marL="0">
              <a:buNone/>
            </a:pPr>
            <a:r>
              <a:rPr lang="en-US" sz="1500" dirty="0">
                <a:solidFill>
                  <a:srgbClr val="1B2433"/>
                </a:solidFill>
              </a:rPr>
              <a:t>D) ORDER BY</a:t>
            </a:r>
            <a:endParaRPr lang="en-US" sz="1500" dirty="0"/>
          </a:p>
        </p:txBody>
      </p:sp>
      <p:sp>
        <p:nvSpPr>
          <p:cNvPr id="23" name="q card 4"/>
          <p:cNvSpPr/>
          <p:nvPr/>
        </p:nvSpPr>
        <p:spPr>
          <a:xfrm>
            <a:off x="6233008" y="3886200"/>
            <a:ext cx="5410048" cy="2240280"/>
          </a:xfrm>
          <a:prstGeom prst="roundRect">
            <a:avLst>
              <a:gd name="adj" fmla="val 4898"/>
            </a:avLst>
          </a:prstGeom>
          <a:solidFill>
            <a:srgbClr val="EEF3F7"/>
          </a:solidFill>
          <a:ln/>
          <a:effectLst>
            <a:outerShdw sx="100000" sy="100000" kx="0" ky="0" algn="bl" rotWithShape="0" blurRad="76200" dist="25400" dir="5400000">
              <a:srgbClr val="0E3B5C">
                <a:alpha val="12000"/>
              </a:srgbClr>
            </a:outerShdw>
          </a:effectLst>
        </p:spPr>
      </p:sp>
      <p:sp>
        <p:nvSpPr>
          <p:cNvPr id="24" name="q badge 4"/>
          <p:cNvSpPr/>
          <p:nvPr/>
        </p:nvSpPr>
        <p:spPr>
          <a:xfrm>
            <a:off x="6461608" y="4114800"/>
            <a:ext cx="594360" cy="594360"/>
          </a:xfrm>
          <a:prstGeom prst="ellipse">
            <a:avLst/>
          </a:prstGeom>
          <a:solidFill>
            <a:srgbClr val="F2A541"/>
          </a:solidFill>
          <a:ln/>
        </p:spPr>
      </p:sp>
      <p:sp>
        <p:nvSpPr>
          <p:cNvPr id="25" name="q num 4"/>
          <p:cNvSpPr txBox="1"/>
          <p:nvPr/>
        </p:nvSpPr>
        <p:spPr>
          <a:xfrm>
            <a:off x="6461608" y="4114800"/>
            <a:ext cx="594360" cy="594360"/>
          </a:xfrm>
          <a:prstGeom prst="rect">
            <a:avLst/>
          </a:prstGeom>
          <a:noFill/>
          <a:ln/>
        </p:spPr>
        <p:txBody>
          <a:bodyPr wrap="square" lIns="0" tIns="0" rIns="0" bIns="0" rtlCol="0" anchor="ctr"/>
          <a:lstStyle/>
          <a:p>
            <a:pPr algn="ctr" indent="0" marL="0">
              <a:buNone/>
            </a:pPr>
            <a:r>
              <a:rPr lang="en-US" sz="1600" b="1" dirty="0">
                <a:solidFill>
                  <a:srgbClr val="1B2433"/>
                </a:solidFill>
              </a:rPr>
              <a:t>Q4</a:t>
            </a:r>
            <a:endParaRPr lang="en-US" sz="1600" dirty="0"/>
          </a:p>
        </p:txBody>
      </p:sp>
      <p:sp>
        <p:nvSpPr>
          <p:cNvPr id="26" name="q text 4"/>
          <p:cNvSpPr txBox="1"/>
          <p:nvPr/>
        </p:nvSpPr>
        <p:spPr>
          <a:xfrm>
            <a:off x="7238848" y="4114800"/>
            <a:ext cx="4175608" cy="822960"/>
          </a:xfrm>
          <a:prstGeom prst="rect">
            <a:avLst/>
          </a:prstGeom>
          <a:noFill/>
          <a:ln/>
        </p:spPr>
        <p:txBody>
          <a:bodyPr wrap="square" lIns="0" tIns="0" rIns="0" bIns="0" rtlCol="0" anchor="ctr"/>
          <a:lstStyle/>
          <a:p>
            <a:pPr indent="0" marL="0">
              <a:buNone/>
            </a:pPr>
            <a:r>
              <a:rPr lang="en-US" sz="1600" b="1" dirty="0">
                <a:solidFill>
                  <a:srgbClr val="1B2433"/>
                </a:solidFill>
              </a:rPr>
              <a:t>Why does this query fail?</a:t>
            </a:r>
            <a:endParaRPr lang="en-US" sz="1600" dirty="0"/>
          </a:p>
        </p:txBody>
      </p:sp>
      <p:sp>
        <p:nvSpPr>
          <p:cNvPr id="27" name="q code 4 panel"/>
          <p:cNvSpPr/>
          <p:nvPr/>
        </p:nvSpPr>
        <p:spPr>
          <a:xfrm>
            <a:off x="7238848" y="5029200"/>
            <a:ext cx="4175608" cy="868680"/>
          </a:xfrm>
          <a:prstGeom prst="roundRect">
            <a:avLst>
              <a:gd name="adj" fmla="val 12632"/>
            </a:avLst>
          </a:prstGeom>
          <a:solidFill>
            <a:srgbClr val="1B2433"/>
          </a:solidFill>
          <a:ln/>
        </p:spPr>
      </p:sp>
      <p:sp>
        <p:nvSpPr>
          <p:cNvPr id="28" name="q code 4 code"/>
          <p:cNvSpPr txBox="1"/>
          <p:nvPr/>
        </p:nvSpPr>
        <p:spPr>
          <a:xfrm>
            <a:off x="7467448" y="5212080"/>
            <a:ext cx="3718408" cy="502920"/>
          </a:xfrm>
          <a:prstGeom prst="rect">
            <a:avLst/>
          </a:prstGeom>
          <a:noFill/>
          <a:ln/>
        </p:spPr>
        <p:txBody>
          <a:bodyPr wrap="square" lIns="0" tIns="0" rIns="0" bIns="0" rtlCol="0" anchor="t"/>
          <a:lstStyle/>
          <a:p>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SELECT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student_id</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F6C56E"/>
                </a:solidFill>
                <a:latin typeface="Courier New" pitchFamily="34" charset="0"/>
                <a:ea typeface="Courier New" pitchFamily="34" charset="-122"/>
                <a:cs typeface="Courier New" pitchFamily="34" charset="-120"/>
              </a:rPr>
              <a:t>AVG</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grade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a:p>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FROM</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GROUP</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b="1" dirty="0">
                <a:solidFill>
                  <a:srgbClr val="7FD1DD"/>
                </a:solidFill>
                <a:latin typeface="Courier New" pitchFamily="34" charset="0"/>
                <a:ea typeface="Courier New" pitchFamily="34" charset="-122"/>
                <a:cs typeface="Courier New" pitchFamily="34" charset="-120"/>
              </a:rPr>
              <a:t>BY</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 </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code</a:t>
            </a:r>
            <a:pPr indent="0" marL="0">
              <a:lnSpc>
                <a:spcPct val="115000"/>
              </a:lnSpc>
              <a:buNone/>
            </a:pPr>
            <a:r>
              <a:rPr lang="en-US" sz="1400" dirty="0">
                <a:solidFill>
                  <a:srgbClr val="E8EDF2"/>
                </a:solidFill>
                <a:latin typeface="Courier New" pitchFamily="34" charset="0"/>
                <a:ea typeface="Courier New" pitchFamily="34" charset="-122"/>
                <a:cs typeface="Courier New" pitchFamily="34" charset="-120"/>
              </a:rPr>
              <a: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0E3B5C"/>
                </a:solidFill>
              </a:rPr>
              <a:t>Quiz: check yourself (2/2)</a:t>
            </a:r>
            <a:endParaRPr lang="en-US" sz="3200" dirty="0"/>
          </a:p>
        </p:txBody>
      </p:sp>
      <p:sp>
        <p:nvSpPr>
          <p:cNvPr id="3" name="q card 5"/>
          <p:cNvSpPr/>
          <p:nvPr/>
        </p:nvSpPr>
        <p:spPr>
          <a:xfrm>
            <a:off x="548640" y="1371600"/>
            <a:ext cx="5410048" cy="2240280"/>
          </a:xfrm>
          <a:prstGeom prst="roundRect">
            <a:avLst>
              <a:gd name="adj" fmla="val 4898"/>
            </a:avLst>
          </a:prstGeom>
          <a:solidFill>
            <a:srgbClr val="EEF3F7"/>
          </a:solidFill>
          <a:ln/>
          <a:effectLst>
            <a:outerShdw sx="100000" sy="100000" kx="0" ky="0" algn="bl" rotWithShape="0" blurRad="76200" dist="25400" dir="5400000">
              <a:srgbClr val="0E3B5C">
                <a:alpha val="12000"/>
              </a:srgbClr>
            </a:outerShdw>
          </a:effectLst>
        </p:spPr>
      </p:sp>
      <p:sp>
        <p:nvSpPr>
          <p:cNvPr id="4" name="q badge 5"/>
          <p:cNvSpPr/>
          <p:nvPr/>
        </p:nvSpPr>
        <p:spPr>
          <a:xfrm>
            <a:off x="777240" y="1600200"/>
            <a:ext cx="594360" cy="594360"/>
          </a:xfrm>
          <a:prstGeom prst="ellipse">
            <a:avLst/>
          </a:prstGeom>
          <a:solidFill>
            <a:srgbClr val="F2A541"/>
          </a:solidFill>
          <a:ln/>
        </p:spPr>
      </p:sp>
      <p:sp>
        <p:nvSpPr>
          <p:cNvPr id="5" name="q num 5"/>
          <p:cNvSpPr txBox="1"/>
          <p:nvPr/>
        </p:nvSpPr>
        <p:spPr>
          <a:xfrm>
            <a:off x="777240" y="1600200"/>
            <a:ext cx="594360" cy="594360"/>
          </a:xfrm>
          <a:prstGeom prst="rect">
            <a:avLst/>
          </a:prstGeom>
          <a:noFill/>
          <a:ln/>
        </p:spPr>
        <p:txBody>
          <a:bodyPr wrap="square" lIns="0" tIns="0" rIns="0" bIns="0" rtlCol="0" anchor="ctr"/>
          <a:lstStyle/>
          <a:p>
            <a:pPr algn="ctr" indent="0" marL="0">
              <a:buNone/>
            </a:pPr>
            <a:r>
              <a:rPr lang="en-US" sz="1600" b="1" dirty="0">
                <a:solidFill>
                  <a:srgbClr val="1B2433"/>
                </a:solidFill>
              </a:rPr>
              <a:t>Q5</a:t>
            </a:r>
            <a:endParaRPr lang="en-US" sz="1600" dirty="0"/>
          </a:p>
        </p:txBody>
      </p:sp>
      <p:sp>
        <p:nvSpPr>
          <p:cNvPr id="6" name="q text 5"/>
          <p:cNvSpPr txBox="1"/>
          <p:nvPr/>
        </p:nvSpPr>
        <p:spPr>
          <a:xfrm>
            <a:off x="1554480" y="1600200"/>
            <a:ext cx="4175608" cy="822960"/>
          </a:xfrm>
          <a:prstGeom prst="rect">
            <a:avLst/>
          </a:prstGeom>
          <a:noFill/>
          <a:ln/>
        </p:spPr>
        <p:txBody>
          <a:bodyPr wrap="square" lIns="0" tIns="0" rIns="0" bIns="0" rtlCol="0" anchor="ctr"/>
          <a:lstStyle/>
          <a:p>
            <a:pPr indent="0" marL="0">
              <a:buNone/>
            </a:pPr>
            <a:r>
              <a:rPr lang="en-US" sz="1600" b="1" dirty="0">
                <a:solidFill>
                  <a:srgbClr val="1B2433"/>
                </a:solidFill>
              </a:rPr>
              <a:t>True or false: WHERE AVG(grade) &gt; 80 is a valid filter.</a:t>
            </a:r>
            <a:endParaRPr lang="en-US" sz="1600" dirty="0"/>
          </a:p>
        </p:txBody>
      </p:sp>
      <p:sp>
        <p:nvSpPr>
          <p:cNvPr id="7" name="q card 6"/>
          <p:cNvSpPr/>
          <p:nvPr/>
        </p:nvSpPr>
        <p:spPr>
          <a:xfrm>
            <a:off x="6233008" y="1371600"/>
            <a:ext cx="5410048" cy="2240280"/>
          </a:xfrm>
          <a:prstGeom prst="roundRect">
            <a:avLst>
              <a:gd name="adj" fmla="val 4898"/>
            </a:avLst>
          </a:prstGeom>
          <a:solidFill>
            <a:srgbClr val="EEF3F7"/>
          </a:solidFill>
          <a:ln/>
          <a:effectLst>
            <a:outerShdw sx="100000" sy="100000" kx="0" ky="0" algn="bl" rotWithShape="0" blurRad="76200" dist="25400" dir="5400000">
              <a:srgbClr val="0E3B5C">
                <a:alpha val="12000"/>
              </a:srgbClr>
            </a:outerShdw>
          </a:effectLst>
        </p:spPr>
      </p:sp>
      <p:sp>
        <p:nvSpPr>
          <p:cNvPr id="8" name="q badge 6"/>
          <p:cNvSpPr/>
          <p:nvPr/>
        </p:nvSpPr>
        <p:spPr>
          <a:xfrm>
            <a:off x="6461608" y="1600200"/>
            <a:ext cx="594360" cy="594360"/>
          </a:xfrm>
          <a:prstGeom prst="ellipse">
            <a:avLst/>
          </a:prstGeom>
          <a:solidFill>
            <a:srgbClr val="F2A541"/>
          </a:solidFill>
          <a:ln/>
        </p:spPr>
      </p:sp>
      <p:sp>
        <p:nvSpPr>
          <p:cNvPr id="9" name="q num 6"/>
          <p:cNvSpPr txBox="1"/>
          <p:nvPr/>
        </p:nvSpPr>
        <p:spPr>
          <a:xfrm>
            <a:off x="6461608" y="1600200"/>
            <a:ext cx="594360" cy="594360"/>
          </a:xfrm>
          <a:prstGeom prst="rect">
            <a:avLst/>
          </a:prstGeom>
          <a:noFill/>
          <a:ln/>
        </p:spPr>
        <p:txBody>
          <a:bodyPr wrap="square" lIns="0" tIns="0" rIns="0" bIns="0" rtlCol="0" anchor="ctr"/>
          <a:lstStyle/>
          <a:p>
            <a:pPr algn="ctr" indent="0" marL="0">
              <a:buNone/>
            </a:pPr>
            <a:r>
              <a:rPr lang="en-US" sz="1600" b="1" dirty="0">
                <a:solidFill>
                  <a:srgbClr val="1B2433"/>
                </a:solidFill>
              </a:rPr>
              <a:t>Q6</a:t>
            </a:r>
            <a:endParaRPr lang="en-US" sz="1600" dirty="0"/>
          </a:p>
        </p:txBody>
      </p:sp>
      <p:sp>
        <p:nvSpPr>
          <p:cNvPr id="10" name="q text 6"/>
          <p:cNvSpPr txBox="1"/>
          <p:nvPr/>
        </p:nvSpPr>
        <p:spPr>
          <a:xfrm>
            <a:off x="7238848" y="1600200"/>
            <a:ext cx="4175608" cy="822960"/>
          </a:xfrm>
          <a:prstGeom prst="rect">
            <a:avLst/>
          </a:prstGeom>
          <a:noFill/>
          <a:ln/>
        </p:spPr>
        <p:txBody>
          <a:bodyPr wrap="square" lIns="0" tIns="0" rIns="0" bIns="0" rtlCol="0" anchor="ctr"/>
          <a:lstStyle/>
          <a:p>
            <a:pPr indent="0" marL="0">
              <a:buNone/>
            </a:pPr>
            <a:r>
              <a:rPr lang="en-US" sz="1600" b="1" dirty="0">
                <a:solidFill>
                  <a:srgbClr val="1B2433"/>
                </a:solidFill>
              </a:rPr>
              <a:t>What does COUNT(DISTINCT course_id) return on our enrollments table?</a:t>
            </a:r>
            <a:endParaRPr lang="en-US" sz="1600" dirty="0"/>
          </a:p>
        </p:txBody>
      </p:sp>
      <p:sp>
        <p:nvSpPr>
          <p:cNvPr id="11" name="q6 opt 0"/>
          <p:cNvSpPr txBox="1"/>
          <p:nvPr/>
        </p:nvSpPr>
        <p:spPr>
          <a:xfrm>
            <a:off x="7238848" y="2560320"/>
            <a:ext cx="2518315" cy="365760"/>
          </a:xfrm>
          <a:prstGeom prst="rect">
            <a:avLst/>
          </a:prstGeom>
          <a:noFill/>
          <a:ln/>
        </p:spPr>
        <p:txBody>
          <a:bodyPr wrap="square" lIns="0" tIns="0" rIns="0" bIns="0" rtlCol="0" anchor="t"/>
          <a:lstStyle/>
          <a:p>
            <a:pPr indent="0" marL="0">
              <a:buNone/>
            </a:pPr>
            <a:r>
              <a:rPr lang="en-US" sz="1500" dirty="0">
                <a:solidFill>
                  <a:srgbClr val="1B2433"/>
                </a:solidFill>
              </a:rPr>
              <a:t>A) 11</a:t>
            </a:r>
            <a:endParaRPr lang="en-US" sz="1500" dirty="0"/>
          </a:p>
        </p:txBody>
      </p:sp>
      <p:sp>
        <p:nvSpPr>
          <p:cNvPr id="12" name="q6 opt 1"/>
          <p:cNvSpPr txBox="1"/>
          <p:nvPr/>
        </p:nvSpPr>
        <p:spPr>
          <a:xfrm>
            <a:off x="9848602" y="2560320"/>
            <a:ext cx="1474413" cy="365760"/>
          </a:xfrm>
          <a:prstGeom prst="rect">
            <a:avLst/>
          </a:prstGeom>
          <a:noFill/>
          <a:ln/>
        </p:spPr>
        <p:txBody>
          <a:bodyPr wrap="square" lIns="0" tIns="0" rIns="0" bIns="0" rtlCol="0" anchor="t"/>
          <a:lstStyle/>
          <a:p>
            <a:pPr indent="0" marL="0">
              <a:buNone/>
            </a:pPr>
            <a:r>
              <a:rPr lang="en-US" sz="1500" dirty="0">
                <a:solidFill>
                  <a:srgbClr val="1B2433"/>
                </a:solidFill>
              </a:rPr>
              <a:t>B) 10</a:t>
            </a:r>
            <a:endParaRPr lang="en-US" sz="1500" dirty="0"/>
          </a:p>
        </p:txBody>
      </p:sp>
      <p:sp>
        <p:nvSpPr>
          <p:cNvPr id="13" name="q6 opt 2"/>
          <p:cNvSpPr txBox="1"/>
          <p:nvPr/>
        </p:nvSpPr>
        <p:spPr>
          <a:xfrm>
            <a:off x="7238848" y="2971800"/>
            <a:ext cx="2518315" cy="365760"/>
          </a:xfrm>
          <a:prstGeom prst="rect">
            <a:avLst/>
          </a:prstGeom>
          <a:noFill/>
          <a:ln/>
        </p:spPr>
        <p:txBody>
          <a:bodyPr wrap="square" lIns="0" tIns="0" rIns="0" bIns="0" rtlCol="0" anchor="t"/>
          <a:lstStyle/>
          <a:p>
            <a:pPr indent="0" marL="0">
              <a:buNone/>
            </a:pPr>
            <a:r>
              <a:rPr lang="en-US" sz="1500" dirty="0">
                <a:solidFill>
                  <a:srgbClr val="1B2433"/>
                </a:solidFill>
              </a:rPr>
              <a:t>C) 4</a:t>
            </a:r>
            <a:endParaRPr lang="en-US" sz="1500" dirty="0"/>
          </a:p>
        </p:txBody>
      </p:sp>
      <p:sp>
        <p:nvSpPr>
          <p:cNvPr id="14" name="q6 opt 3"/>
          <p:cNvSpPr txBox="1"/>
          <p:nvPr/>
        </p:nvSpPr>
        <p:spPr>
          <a:xfrm>
            <a:off x="9848602" y="2971800"/>
            <a:ext cx="1474413" cy="365760"/>
          </a:xfrm>
          <a:prstGeom prst="rect">
            <a:avLst/>
          </a:prstGeom>
          <a:noFill/>
          <a:ln/>
        </p:spPr>
        <p:txBody>
          <a:bodyPr wrap="square" lIns="0" tIns="0" rIns="0" bIns="0" rtlCol="0" anchor="t"/>
          <a:lstStyle/>
          <a:p>
            <a:pPr indent="0" marL="0">
              <a:buNone/>
            </a:pPr>
            <a:r>
              <a:rPr lang="en-US" sz="1500" dirty="0">
                <a:solidFill>
                  <a:srgbClr val="1B2433"/>
                </a:solidFill>
              </a:rPr>
              <a:t>D) 5</a:t>
            </a:r>
            <a:endParaRPr lang="en-US" sz="1500" dirty="0"/>
          </a:p>
        </p:txBody>
      </p:sp>
      <p:sp>
        <p:nvSpPr>
          <p:cNvPr id="15" name="q card 7"/>
          <p:cNvSpPr/>
          <p:nvPr/>
        </p:nvSpPr>
        <p:spPr>
          <a:xfrm>
            <a:off x="548640" y="3886200"/>
            <a:ext cx="5410048" cy="2240280"/>
          </a:xfrm>
          <a:prstGeom prst="roundRect">
            <a:avLst>
              <a:gd name="adj" fmla="val 4898"/>
            </a:avLst>
          </a:prstGeom>
          <a:solidFill>
            <a:srgbClr val="EEF3F7"/>
          </a:solidFill>
          <a:ln/>
          <a:effectLst>
            <a:outerShdw sx="100000" sy="100000" kx="0" ky="0" algn="bl" rotWithShape="0" blurRad="76200" dist="25400" dir="5400000">
              <a:srgbClr val="0E3B5C">
                <a:alpha val="12000"/>
              </a:srgbClr>
            </a:outerShdw>
          </a:effectLst>
        </p:spPr>
      </p:sp>
      <p:sp>
        <p:nvSpPr>
          <p:cNvPr id="16" name="q badge 7"/>
          <p:cNvSpPr/>
          <p:nvPr/>
        </p:nvSpPr>
        <p:spPr>
          <a:xfrm>
            <a:off x="777240" y="4114800"/>
            <a:ext cx="594360" cy="594360"/>
          </a:xfrm>
          <a:prstGeom prst="ellipse">
            <a:avLst/>
          </a:prstGeom>
          <a:solidFill>
            <a:srgbClr val="F2A541"/>
          </a:solidFill>
          <a:ln/>
        </p:spPr>
      </p:sp>
      <p:sp>
        <p:nvSpPr>
          <p:cNvPr id="17" name="q num 7"/>
          <p:cNvSpPr txBox="1"/>
          <p:nvPr/>
        </p:nvSpPr>
        <p:spPr>
          <a:xfrm>
            <a:off x="777240" y="4114800"/>
            <a:ext cx="594360" cy="594360"/>
          </a:xfrm>
          <a:prstGeom prst="rect">
            <a:avLst/>
          </a:prstGeom>
          <a:noFill/>
          <a:ln/>
        </p:spPr>
        <p:txBody>
          <a:bodyPr wrap="square" lIns="0" tIns="0" rIns="0" bIns="0" rtlCol="0" anchor="ctr"/>
          <a:lstStyle/>
          <a:p>
            <a:pPr algn="ctr" indent="0" marL="0">
              <a:buNone/>
            </a:pPr>
            <a:r>
              <a:rPr lang="en-US" sz="1600" b="1" dirty="0">
                <a:solidFill>
                  <a:srgbClr val="1B2433"/>
                </a:solidFill>
              </a:rPr>
              <a:t>Q7</a:t>
            </a:r>
            <a:endParaRPr lang="en-US" sz="1600" dirty="0"/>
          </a:p>
        </p:txBody>
      </p:sp>
      <p:sp>
        <p:nvSpPr>
          <p:cNvPr id="18" name="q text 7"/>
          <p:cNvSpPr txBox="1"/>
          <p:nvPr/>
        </p:nvSpPr>
        <p:spPr>
          <a:xfrm>
            <a:off x="1554480" y="4114800"/>
            <a:ext cx="4175608" cy="822960"/>
          </a:xfrm>
          <a:prstGeom prst="rect">
            <a:avLst/>
          </a:prstGeom>
          <a:noFill/>
          <a:ln/>
        </p:spPr>
        <p:txBody>
          <a:bodyPr wrap="square" lIns="0" tIns="0" rIns="0" bIns="0" rtlCol="0" anchor="ctr"/>
          <a:lstStyle/>
          <a:p>
            <a:pPr indent="0" marL="0">
              <a:buNone/>
            </a:pPr>
            <a:r>
              <a:rPr lang="en-US" sz="1600" b="1" dirty="0">
                <a:solidFill>
                  <a:srgbClr val="1B2433"/>
                </a:solidFill>
              </a:rPr>
              <a:t>Put in logical execution order: SELECT, GROUP BY, FROM, HAVING, WHERE</a:t>
            </a:r>
            <a:endParaRPr lang="en-US" sz="1600" dirty="0"/>
          </a:p>
        </p:txBody>
      </p:sp>
      <p:sp>
        <p:nvSpPr>
          <p:cNvPr id="19" name="q card 8"/>
          <p:cNvSpPr/>
          <p:nvPr/>
        </p:nvSpPr>
        <p:spPr>
          <a:xfrm>
            <a:off x="6233008" y="3886200"/>
            <a:ext cx="5410048" cy="2240280"/>
          </a:xfrm>
          <a:prstGeom prst="roundRect">
            <a:avLst>
              <a:gd name="adj" fmla="val 4898"/>
            </a:avLst>
          </a:prstGeom>
          <a:solidFill>
            <a:srgbClr val="EEF3F7"/>
          </a:solidFill>
          <a:ln/>
          <a:effectLst>
            <a:outerShdw sx="100000" sy="100000" kx="0" ky="0" algn="bl" rotWithShape="0" blurRad="76200" dist="25400" dir="5400000">
              <a:srgbClr val="0E3B5C">
                <a:alpha val="12000"/>
              </a:srgbClr>
            </a:outerShdw>
          </a:effectLst>
        </p:spPr>
      </p:sp>
      <p:sp>
        <p:nvSpPr>
          <p:cNvPr id="20" name="q badge 8"/>
          <p:cNvSpPr/>
          <p:nvPr/>
        </p:nvSpPr>
        <p:spPr>
          <a:xfrm>
            <a:off x="6461608" y="4114800"/>
            <a:ext cx="594360" cy="594360"/>
          </a:xfrm>
          <a:prstGeom prst="ellipse">
            <a:avLst/>
          </a:prstGeom>
          <a:solidFill>
            <a:srgbClr val="F2A541"/>
          </a:solidFill>
          <a:ln/>
        </p:spPr>
      </p:sp>
      <p:sp>
        <p:nvSpPr>
          <p:cNvPr id="21" name="q num 8"/>
          <p:cNvSpPr txBox="1"/>
          <p:nvPr/>
        </p:nvSpPr>
        <p:spPr>
          <a:xfrm>
            <a:off x="6461608" y="4114800"/>
            <a:ext cx="594360" cy="594360"/>
          </a:xfrm>
          <a:prstGeom prst="rect">
            <a:avLst/>
          </a:prstGeom>
          <a:noFill/>
          <a:ln/>
        </p:spPr>
        <p:txBody>
          <a:bodyPr wrap="square" lIns="0" tIns="0" rIns="0" bIns="0" rtlCol="0" anchor="ctr"/>
          <a:lstStyle/>
          <a:p>
            <a:pPr algn="ctr" indent="0" marL="0">
              <a:buNone/>
            </a:pPr>
            <a:r>
              <a:rPr lang="en-US" sz="1600" b="1" dirty="0">
                <a:solidFill>
                  <a:srgbClr val="1B2433"/>
                </a:solidFill>
              </a:rPr>
              <a:t>Q8</a:t>
            </a:r>
            <a:endParaRPr lang="en-US" sz="1600" dirty="0"/>
          </a:p>
        </p:txBody>
      </p:sp>
      <p:sp>
        <p:nvSpPr>
          <p:cNvPr id="22" name="q text 8"/>
          <p:cNvSpPr txBox="1"/>
          <p:nvPr/>
        </p:nvSpPr>
        <p:spPr>
          <a:xfrm>
            <a:off x="7238848" y="4114800"/>
            <a:ext cx="4175608" cy="822960"/>
          </a:xfrm>
          <a:prstGeom prst="rect">
            <a:avLst/>
          </a:prstGeom>
          <a:noFill/>
          <a:ln/>
        </p:spPr>
        <p:txBody>
          <a:bodyPr wrap="square" lIns="0" tIns="0" rIns="0" bIns="0" rtlCol="0" anchor="ctr"/>
          <a:lstStyle/>
          <a:p>
            <a:pPr indent="0" marL="0">
              <a:buNone/>
            </a:pPr>
            <a:r>
              <a:rPr lang="en-US" sz="1600" b="1" dirty="0">
                <a:solidFill>
                  <a:srgbClr val="1B2433"/>
                </a:solidFill>
              </a:rPr>
              <a:t>On an empty set of rows, which returns NULL instead of 0?</a:t>
            </a:r>
            <a:endParaRPr lang="en-US" sz="1600" dirty="0"/>
          </a:p>
        </p:txBody>
      </p:sp>
      <p:sp>
        <p:nvSpPr>
          <p:cNvPr id="23" name="q8 opt 0"/>
          <p:cNvSpPr txBox="1"/>
          <p:nvPr/>
        </p:nvSpPr>
        <p:spPr>
          <a:xfrm>
            <a:off x="7238848" y="5074920"/>
            <a:ext cx="1474413" cy="365760"/>
          </a:xfrm>
          <a:prstGeom prst="rect">
            <a:avLst/>
          </a:prstGeom>
          <a:noFill/>
          <a:ln/>
        </p:spPr>
        <p:txBody>
          <a:bodyPr wrap="square" lIns="0" tIns="0" rIns="0" bIns="0" rtlCol="0" anchor="t"/>
          <a:lstStyle/>
          <a:p>
            <a:pPr indent="0" marL="0">
              <a:buNone/>
            </a:pPr>
            <a:r>
              <a:rPr lang="en-US" sz="1500" dirty="0">
                <a:solidFill>
                  <a:srgbClr val="1B2433"/>
                </a:solidFill>
              </a:rPr>
              <a:t>A) COUNT(*)</a:t>
            </a:r>
            <a:endParaRPr lang="en-US" sz="1500" dirty="0"/>
          </a:p>
        </p:txBody>
      </p:sp>
      <p:sp>
        <p:nvSpPr>
          <p:cNvPr id="24" name="q8 opt 1"/>
          <p:cNvSpPr txBox="1"/>
          <p:nvPr/>
        </p:nvSpPr>
        <p:spPr>
          <a:xfrm>
            <a:off x="9326651" y="5074920"/>
            <a:ext cx="1474413" cy="365760"/>
          </a:xfrm>
          <a:prstGeom prst="rect">
            <a:avLst/>
          </a:prstGeom>
          <a:noFill/>
          <a:ln/>
        </p:spPr>
        <p:txBody>
          <a:bodyPr wrap="square" lIns="0" tIns="0" rIns="0" bIns="0" rtlCol="0" anchor="t"/>
          <a:lstStyle/>
          <a:p>
            <a:pPr indent="0" marL="0">
              <a:buNone/>
            </a:pPr>
            <a:r>
              <a:rPr lang="en-US" sz="1500" dirty="0">
                <a:solidFill>
                  <a:srgbClr val="1B2433"/>
                </a:solidFill>
              </a:rPr>
              <a:t>B) SUM(grade)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QL Aggregates">
  <a:themeElements>
    <a:clrScheme name="SQL Aggregates">
      <a:dk1>
        <a:srgbClr val="1B2433"/>
      </a:dk1>
      <a:lt1>
        <a:srgbClr val="FFFFFF"/>
      </a:lt1>
      <a:dk2>
        <a:srgbClr val="0E3B5C"/>
      </a:dk2>
      <a:lt2>
        <a:srgbClr val="EEF3F7"/>
      </a:lt2>
      <a:accent1>
        <a:srgbClr val="0E3B5C"/>
      </a:accent1>
      <a:accent2>
        <a:srgbClr val="1F8A99"/>
      </a:accent2>
      <a:accent3>
        <a:srgbClr val="F2A541"/>
      </a:accent3>
      <a:accent4>
        <a:srgbClr val="D9E4EC"/>
      </a:accent4>
      <a:accent5>
        <a:srgbClr val="5B6B78"/>
      </a:accent5>
      <a:accent6>
        <a:srgbClr val="C8553D"/>
      </a:accent6>
      <a:hlink>
        <a:srgbClr val="1F8A99"/>
      </a:hlink>
      <a:folHlink>
        <a:srgbClr val="5B6B78"/>
      </a:folHlink>
    </a:clrScheme>
    <a:fontScheme name="SQL Aggregat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Aggregate Functions and GROUP BY</dc:title>
  <dc:subject>PptxGenJS Presentation</dc:subject>
  <dc:creator>Doe John</dc:creator>
  <cp:lastModifiedBy>Doe John</cp:lastModifiedBy>
  <cp:revision>1</cp:revision>
  <dcterms:created xsi:type="dcterms:W3CDTF">2026-10-16T08:54:46Z</dcterms:created>
  <dcterms:modified xsi:type="dcterms:W3CDTF">2026-10-16T08:54:46Z</dcterms:modified>
</cp:coreProperties>
</file>